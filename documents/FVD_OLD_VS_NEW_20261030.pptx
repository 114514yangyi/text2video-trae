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77639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59E6B"/>
                </a:solidFill>
                <a:latin typeface="Segoe UI"/>
                <a:ea typeface="Microsoft YaHei"/>
              </a:rPr>
              <a:t>MILESTONE 1 · 评测口径说明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  <a:ea typeface="Microsoft YaHei"/>
              </a:rPr>
              <a:t>FVD 换了什么：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  <a:ea typeface="Microsoft YaHei"/>
              </a:rPr>
              <a:t>从 pooled Fréchet 到 per-clip 平均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9D2DE"/>
                </a:solidFill>
                <a:latin typeface="Segoe UI"/>
                <a:ea typeface="Microsoft YaHei"/>
              </a:rPr>
              <a:t>旧：video_metric / styleganv · first24 · 640 条 · pooled FVD ≈ 130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9D2DE"/>
                </a:solidFill>
                <a:latin typeface="Segoe UI"/>
                <a:ea typeface="Microsoft YaHei"/>
              </a:rPr>
              <a:t>新：videovaet_fvd / videogpt · first52 · 642 条 · per-clip 均值 ≈ 970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B2430"/>
                </a:solidFill>
                <a:latin typeface="Segoe UI"/>
                <a:ea typeface="Microsoft YaHei"/>
              </a:rPr>
              <a:t>结论先说：这不是一次“数值修正”，而是换了一个</a:t>
            </a:r>
            <a:r>
              <a:rPr sz="1500" b="1" i="0">
                <a:solidFill>
                  <a:srgbClr val="1B2430"/>
                </a:solidFill>
                <a:latin typeface="Segoe UI"/>
                <a:ea typeface="Microsoft YaHei"/>
              </a:rPr>
              <a:t>估计量</a:t>
            </a:r>
            <a:r>
              <a:rPr sz="1500" b="0" i="0">
                <a:solidFill>
                  <a:srgbClr val="1B2430"/>
                </a:solidFill>
                <a:latin typeface="Segoe UI"/>
                <a:ea typeface="Microsoft YaHei"/>
              </a:rPr>
              <a:t>。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B2430"/>
                </a:solidFill>
                <a:latin typeface="Segoe UI"/>
                <a:ea typeface="Microsoft YaHei"/>
              </a:rPr>
              <a:t>旧数字（129.75 / 137.98 …）与新数字（969 / 985 …）不可换算、不可同表、不可相减。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4206240"/>
            <a:ext cx="3520440" cy="1508760"/>
          </a:xfrm>
          <a:prstGeom prst="roundRect">
            <a:avLst/>
          </a:prstGeom>
          <a:solidFill>
            <a:srgbClr val="F4F6F9"/>
          </a:solidFill>
          <a:ln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6B7684"/>
                </a:solidFill>
                <a:latin typeface="Segoe UI"/>
                <a:ea typeface="Microsoft YaHei"/>
              </a:rPr>
              <a:t>2026-10-30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6B7684"/>
                </a:solidFill>
                <a:latin typeface="Segoe UI"/>
                <a:ea typeface="Microsoft YaHei"/>
              </a:rPr>
              <a:t>依据：FVD_SPEC.md（2026-10-29 生效）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6B7684"/>
                </a:solidFill>
                <a:latin typeface="Segoe UI"/>
                <a:ea typeface="Microsoft YaHei"/>
              </a:rPr>
              <a:t>AGENTS.md 第 5 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适用仓库：text2video（代码）+ text2video-trae（知识库）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一页看完：到底变了哪三件事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7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700" b="1" i="0">
                <a:solidFill>
                  <a:srgbClr val="1B2430"/>
                </a:solidFill>
                <a:latin typeface="Segoe UI"/>
                <a:ea typeface="Microsoft YaHei"/>
              </a:rPr>
              <a:t>估计量变了</a:t>
            </a:r>
            <a:r>
              <a:rPr sz="1700" b="0" i="0">
                <a:solidFill>
                  <a:srgbClr val="1B2430"/>
                </a:solidFill>
                <a:latin typeface="Segoe UI"/>
                <a:ea typeface="Microsoft YaHei"/>
              </a:rPr>
              <a:t>：旧 = 把 640 条生成 clip 的特征</a:t>
            </a:r>
            <a:r>
              <a:rPr sz="1700" b="1" i="0">
                <a:solidFill>
                  <a:srgbClr val="1B2430"/>
                </a:solidFill>
                <a:latin typeface="Segoe UI"/>
                <a:ea typeface="Microsoft YaHei"/>
              </a:rPr>
              <a:t>拼成一个分布</a:t>
            </a:r>
            <a:r>
              <a:rPr sz="1700" b="0" i="0">
                <a:solidFill>
                  <a:srgbClr val="1B2430"/>
                </a:solidFill>
                <a:latin typeface="Segoe UI"/>
                <a:ea typeface="Microsoft YaHei"/>
              </a:rPr>
              <a:t>，估 μ 和 Σ，算一次 Fréchet；新 = </a:t>
            </a:r>
            <a:r>
              <a:rPr sz="1700" b="1" i="0">
                <a:solidFill>
                  <a:srgbClr val="1B2430"/>
                </a:solidFill>
                <a:latin typeface="Segoe UI"/>
                <a:ea typeface="Microsoft YaHei"/>
              </a:rPr>
              <a:t>每条 clip 与它自己的真值配成一对</a:t>
            </a:r>
            <a:r>
              <a:rPr sz="1700" b="0" i="0">
                <a:solidFill>
                  <a:srgbClr val="1B2430"/>
                </a:solidFill>
                <a:latin typeface="Segoe UI"/>
                <a:ea typeface="Microsoft YaHei"/>
              </a:rPr>
              <a:t>，各自算一次 Fréchet，再对 642 对取算术平均。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7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700" b="1" i="0">
                <a:solidFill>
                  <a:srgbClr val="1B2430"/>
                </a:solidFill>
                <a:latin typeface="Segoe UI"/>
                <a:ea typeface="Microsoft YaHei"/>
              </a:rPr>
              <a:t>时间窗变了</a:t>
            </a:r>
            <a:r>
              <a:rPr sz="1700" b="0" i="0">
                <a:solidFill>
                  <a:srgbClr val="1B2430"/>
                </a:solidFill>
                <a:latin typeface="Segoe UI"/>
                <a:ea typeface="Microsoft YaHei"/>
              </a:rPr>
              <a:t>：旧 = 源 frame0..23 </a:t>
            </a:r>
            <a:r>
              <a:rPr sz="1700" b="1" i="0">
                <a:solidFill>
                  <a:srgbClr val="1B2430"/>
                </a:solidFill>
                <a:latin typeface="Segoe UI"/>
                <a:ea typeface="Microsoft YaHei"/>
              </a:rPr>
              <a:t>连续 24 帧</a:t>
            </a:r>
            <a:r>
              <a:rPr sz="1700" b="0" i="0">
                <a:solidFill>
                  <a:srgbClr val="1B2430"/>
                </a:solidFill>
                <a:latin typeface="Segoe UI"/>
                <a:ea typeface="Microsoft YaHei"/>
              </a:rPr>
              <a:t>；新 = 每条 N = min(52, 源帧数)，真值经 N 帧 symlink 视图送进 FixedSample(52)，86.6% 的 clip 用满 52 帧。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7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700" b="1" i="0">
                <a:solidFill>
                  <a:srgbClr val="1B2430"/>
                </a:solidFill>
                <a:latin typeface="Segoe UI"/>
                <a:ea typeface="Microsoft YaHei"/>
              </a:rPr>
              <a:t>代码身份变了</a:t>
            </a:r>
            <a:r>
              <a:rPr sz="1700" b="0" i="0">
                <a:solidFill>
                  <a:srgbClr val="1B2430"/>
                </a:solidFill>
                <a:latin typeface="Segoe UI"/>
                <a:ea typeface="Microsoft YaHei"/>
              </a:rPr>
              <a:t>：旧 = 调用外部目录 /home/wxy/video_metric；新 = 仓库内 vendored third_party/videovaet_fvd/，sha256 每次加载校验，带 verify / selftest 两个自检。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89204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FDF3EC"/>
          </a:solidFill>
          <a:ln w="12700">
            <a:solidFill>
              <a:srgbClr val="F0C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B43E0B"/>
                </a:solidFill>
                <a:latin typeface="Segoe UI"/>
                <a:ea typeface="Microsoft YaHei"/>
              </a:rPr>
              <a:t>量的后果：同一批特征，per-clip 均值 1067.68 vs pooled 191.41（≈5.6×）。所以“新分数变差了”这种判断没有意义——先看本底 floor，再看排序。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先对齐概念：FVD 到底在量什么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B7684"/>
                </a:solidFill>
                <a:latin typeface="Segoe UI"/>
                <a:ea typeface="Microsoft YaHei"/>
              </a:rPr>
              <a:t>Fréchet Video Distance（Unterthiner et al., 2018）：把视频送进 I3D 取特征，再比较两组特征的多元高斯。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9456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B2430"/>
                </a:solidFill>
                <a:latin typeface="Segoe UI"/>
                <a:ea typeface="Microsoft YaHei"/>
              </a:rPr>
              <a:t>FVD = ‖μ_r − μ_g‖² + Tr( Σ_r + Σ_g − 2·(Σ_r Σ_g)^½ )        μ = 特征均值，Σ = 特征协方差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6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特征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：I3D（Inception-v1, Kinetics-400 预训练）的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400 维 logits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（softmax 之前）。不是 R(2+1)D 的 512 维池化特征——那是早期实现的历史错误。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6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两个分量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：均值项管“像不像”，协方差项管“分布形状/多样性像不像”。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谁被保留，决定了指标在量什么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6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没有物理单位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：FVD 的数值只在“同数据集、同帧窗、同预处理、同代码”内可比；论文也只是给经验尺度（差 &lt; 50 人眼基本看不出）。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6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同分布也不为 0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：有限样本下真值 vs 真值也有距离，所以必须同时报 N 和 real-vs-real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本底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口径史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四代口径的演进：为什么会有这么多“FVD”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45920"/>
          <a:ext cx="10607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3383280"/>
                <a:gridCol w="1325880"/>
                <a:gridCol w="1371600"/>
                <a:gridCol w="20574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代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时间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实现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帧窗口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聚合方式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量级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① 伪 FVD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2026-10 之前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torchvision R(2+1)D-18，512 维池化特征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16 帧均匀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pooled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22–26（</a:t>
                      </a:r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不是 FVD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② 本地 I3D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2026-10-21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tools/eval_fvd.py（已删除）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16 帧均匀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pooled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132–185（floor 74.2）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③ 上一版正式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2026-10-27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video_metric · method=styleganv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first24 连续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pooled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126–142（floor 84.9）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④ 现行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2026-10-29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third_party/videovaet_fvd（videogpt）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min(52, 源帧数)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per-clip 均值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969–993（floor ≈1504）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07492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DF3EC"/>
          </a:solidFill>
          <a:ln w="12700">
            <a:solidFill>
              <a:srgbClr val="F0C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B43E0B"/>
                </a:solidFill>
                <a:latin typeface="Segoe UI"/>
                <a:ea typeface="Microsoft YaHei"/>
              </a:rPr>
              <a:t>①②③ 全部作废，只作追溯。同一份报告里如果出现两代数字并列，评审可以直接判无效。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旧口径（2026-10-27 → 2026-10-29）：first24 + pooled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4592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2354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环节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旧口径做法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入口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tools/eval_video_metric_fvd.py → 用户目录 /home/wxy/video_metric 的 calculate_fvd(..., method='styleganv', only_final=True)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清单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test 单侧，</a:t>
                      </a:r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640 条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（m1_test_first24_ids.txt，ids SHA 6f96ad9d…）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帧窗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源 frame0..23 </a:t>
                      </a:r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连续 24 帧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，不补帧；生成侧解码 24 帧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几何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源 256² → 上游 preprocess_single：tensor bilinear（no-AA）+ </a:t>
                      </a:r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center crop 224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，像素 [−1, 1]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聚合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640 条特征 → 一个 400 维高斯 → </a:t>
                      </a:r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一次 pooled Fréchet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（均值项 + 协方差项）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本底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real_split_half_fvd：真值随机分两半，两半之间算 pooled Fréchet = </a:t>
                      </a:r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84.8977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产物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reports/eval/m1_E*/fvd.json（fvd、real_split_half_fvd、protocol）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新口径（2026-10-29 起）：first52 + per-clip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45920"/>
          <a:ext cx="106070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235440"/>
              </a:tblGrid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环节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新口径做法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入口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tools/eval_videovaet_fvd.py → 仓库内 third_party/videovaet_fvd/（VIDEOVAET_FVD_ROOT 可换 checkout 交叉验证）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清单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test 单侧，</a:t>
                      </a:r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全部 642 条源</a:t>
                      </a:r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（m1_test_first52_ids.txt，SHA feb5565065977755…）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帧窗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每条 N = min(52, 源帧数)；真值经 </a:t>
                      </a:r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N 帧 symlink 视图</a:t>
                      </a:r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 data/phoenix_frames_first52/；生成 images0000..N-1，帧数必须恰好 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几何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解码后 </a:t>
                      </a:r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stretch 到 224×224</a:t>
                      </a:r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（cv2.INTER_LANCZOS4），</a:t>
                      </a:r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不保持长宽比、不 center crop</a:t>
                      </a:r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；ToTensor = x/128−1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聚合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逐 clip：calculate_fvd(..., method='videogpt', only_final=True)，test_batch_size=1 ⇒ </a:t>
                      </a:r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N=1</a:t>
                      </a:r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 ⇒ 只有均值项；再 np.mean(per-clip)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本底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同一 verbatim 管线跑</a:t>
                      </a:r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真值互配</a:t>
                      </a:r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（clip i vs clip i+N/2）= </a:t>
                      </a:r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1503.97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产物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fvd_videovaet.json（fvd_mean、median/std/min/max、floor、window_histogram、protocol）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最本质的一条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差异一：pooled Fréchet → per-clip 平均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6E7784"/>
                </a:solidFill>
                <a:latin typeface="Segoe UI"/>
                <a:ea typeface="Microsoft YaHei"/>
              </a:rPr>
              <a:t>旧：整个集合算一次距离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01952"/>
            <a:ext cx="2240280" cy="8686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642 条生成 clip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的 I3D 特征 642×400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2240280"/>
            <a:ext cx="411480" cy="201168"/>
          </a:xfrm>
          <a:prstGeom prst="rightArrow">
            <a:avLst/>
          </a:prstGeom>
          <a:solidFill>
            <a:srgbClr val="6B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01952"/>
            <a:ext cx="2240280" cy="8686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估 μ、Σ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（一个 400 维高斯）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32120" y="2240280"/>
            <a:ext cx="411480" cy="201168"/>
          </a:xfrm>
          <a:prstGeom prst="rightArrow">
            <a:avLst/>
          </a:prstGeom>
          <a:solidFill>
            <a:srgbClr val="6B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15000" y="1901952"/>
            <a:ext cx="2240280" cy="8686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Fréchet 一次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均值 + 协方差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01000" y="2240280"/>
            <a:ext cx="411480" cy="201168"/>
          </a:xfrm>
          <a:prstGeom prst="rightArrow">
            <a:avLst/>
          </a:prstGeom>
          <a:solidFill>
            <a:srgbClr val="6B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1901952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B2430"/>
                </a:solidFill>
                <a:latin typeface="Segoe UI"/>
                <a:ea typeface="Microsoft YaHei"/>
              </a:rPr>
              <a:t>FVD ≈ 130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B43E0B"/>
                </a:solidFill>
                <a:latin typeface="Segoe UI"/>
                <a:ea typeface="Microsoft YaHei"/>
              </a:rPr>
              <a:t>新：每一对 (生成, 真值) 各算一次，再平均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29000"/>
            <a:ext cx="2240280" cy="1051560"/>
          </a:xfrm>
          <a:prstGeom prst="roundRect">
            <a:avLst>
              <a:gd name="adj" fmla="val 6000"/>
            </a:avLst>
          </a:prstGeom>
          <a:solidFill>
            <a:srgbClr val="FDF3EC"/>
          </a:solidFill>
          <a:ln w="12700">
            <a:solidFill>
              <a:srgbClr val="F0C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clip i：生成 400-d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logits 均值 μ_g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63240" y="3849624"/>
            <a:ext cx="411480" cy="201168"/>
          </a:xfrm>
          <a:prstGeom prst="rightArrow">
            <a:avLst/>
          </a:prstGeom>
          <a:solidFill>
            <a:srgbClr val="6B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0440" y="3429000"/>
            <a:ext cx="2240280" cy="1051560"/>
          </a:xfrm>
          <a:prstGeom prst="roundRect">
            <a:avLst>
              <a:gd name="adj" fmla="val 6000"/>
            </a:avLst>
          </a:prstGeom>
          <a:solidFill>
            <a:srgbClr val="FDF3EC"/>
          </a:solidFill>
          <a:ln w="12700">
            <a:solidFill>
              <a:srgbClr val="F0C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clip i：真值 400-d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logits 均值 μ_r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06440" y="3849624"/>
            <a:ext cx="411480" cy="201168"/>
          </a:xfrm>
          <a:prstGeom prst="rightArrow">
            <a:avLst/>
          </a:prstGeom>
          <a:solidFill>
            <a:srgbClr val="6B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429000"/>
            <a:ext cx="2240280" cy="10515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N=1 ⇒ 协方差项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B2430"/>
                </a:solidFill>
                <a:latin typeface="Segoe UI"/>
                <a:ea typeface="Microsoft YaHei"/>
              </a:rPr>
              <a:t>不可估，只剩 ‖Δμ‖²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49640" y="3849624"/>
            <a:ext cx="411480" cy="201168"/>
          </a:xfrm>
          <a:prstGeom prst="rightArrow">
            <a:avLst/>
          </a:prstGeom>
          <a:solidFill>
            <a:srgbClr val="6B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40" y="342900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DF3EC"/>
          </a:solidFill>
          <a:ln w="12700">
            <a:solidFill>
              <a:srgbClr val="F0C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B43E0B"/>
                </a:solidFill>
                <a:latin typeface="Segoe UI"/>
                <a:ea typeface="Microsoft YaHei"/>
              </a:rPr>
              <a:t>对 642 对求平均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FVD ≈ 970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5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450" b="1" i="0">
                <a:solidFill>
                  <a:srgbClr val="1B2430"/>
                </a:solidFill>
                <a:latin typeface="Segoe UI"/>
                <a:ea typeface="Microsoft YaHei"/>
              </a:rPr>
              <a:t>保留的东西不同</a:t>
            </a:r>
            <a:r>
              <a:rPr sz="1450" b="0" i="0">
                <a:solidFill>
                  <a:srgbClr val="1B2430"/>
                </a:solidFill>
                <a:latin typeface="Segoe UI"/>
                <a:ea typeface="Microsoft YaHei"/>
              </a:rPr>
              <a:t>：旧口径的协方差项会惩罚“生成的多样性不像真值”；新口径只问“这条 clip 的特征均值离它自己的真值有多远”。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5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450" b="1" i="0">
                <a:solidFill>
                  <a:srgbClr val="1B2430"/>
                </a:solidFill>
                <a:latin typeface="Segoe UI"/>
                <a:ea typeface="Microsoft YaHei"/>
              </a:rPr>
              <a:t>配对 vs 不配对</a:t>
            </a:r>
            <a:r>
              <a:rPr sz="1450" b="0" i="0">
                <a:solidFill>
                  <a:srgbClr val="1B2430"/>
                </a:solidFill>
                <a:latin typeface="Segoe UI"/>
                <a:ea typeface="Microsoft YaHei"/>
              </a:rPr>
              <a:t>：新口径是</a:t>
            </a:r>
            <a:r>
              <a:rPr sz="1450" b="1" i="0">
                <a:solidFill>
                  <a:srgbClr val="1B2430"/>
                </a:solidFill>
                <a:latin typeface="Segoe UI"/>
                <a:ea typeface="Microsoft YaHei"/>
              </a:rPr>
              <a:t>有监督的配对距离</a:t>
            </a:r>
            <a:r>
              <a:rPr sz="1450" b="0" i="0">
                <a:solidFill>
                  <a:srgbClr val="1B2430"/>
                </a:solidFill>
                <a:latin typeface="Segoe UI"/>
                <a:ea typeface="Microsoft YaHei"/>
              </a:rPr>
              <a:t>（每对都对齐同一个说话人/同一句话），所以它能稳定低于“不相关真值对”的本底；旧口径是</a:t>
            </a:r>
            <a:r>
              <a:rPr sz="1450" b="1" i="0">
                <a:solidFill>
                  <a:srgbClr val="1B2430"/>
                </a:solidFill>
                <a:latin typeface="Segoe UI"/>
                <a:ea typeface="Microsoft YaHei"/>
              </a:rPr>
              <a:t>分布间</a:t>
            </a:r>
            <a:r>
              <a:rPr sz="1450" b="0" i="0">
                <a:solidFill>
                  <a:srgbClr val="1B2430"/>
                </a:solidFill>
                <a:latin typeface="Segoe UI"/>
                <a:ea typeface="Microsoft YaHei"/>
              </a:rPr>
              <a:t>距离，天生要大于同分布本底。两者比较的其实是不同的问题。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数据层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差异二：24 帧连续窗口 → min(52, 源帧数)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6E7784"/>
                </a:solidFill>
                <a:latin typeface="Segoe UI"/>
                <a:ea typeface="Microsoft YaHei"/>
              </a:rPr>
              <a:t>旧：只看开头 24 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5120640" cy="5029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源视频 frame 0 … 99（median 99 帧）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20240"/>
            <a:ext cx="1228953" cy="502920"/>
          </a:xfrm>
          <a:prstGeom prst="roundRect">
            <a:avLst>
              <a:gd name="adj" fmla="val 6000"/>
            </a:avLst>
          </a:prstGeom>
          <a:solidFill>
            <a:srgbClr val="D5D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B2430"/>
                </a:solidFill>
                <a:latin typeface="Segoe UI"/>
                <a:ea typeface="Microsoft YaHei"/>
              </a:rPr>
              <a:t>0..23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684"/>
                </a:solidFill>
                <a:latin typeface="Segoe UI"/>
                <a:ea typeface="Microsoft YaHei"/>
              </a:rPr>
              <a:t>生成也只解 24 帧；后面 76 帧（≈24%–50% 的时间）完全没进指标。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B43E0B"/>
                </a:solidFill>
                <a:latin typeface="Segoe UI"/>
                <a:ea typeface="Microsoft YaHei"/>
              </a:rPr>
              <a:t>新：按源长度决定窗口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69080"/>
            <a:ext cx="5120640" cy="5029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源 frame 0 … 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69080"/>
            <a:ext cx="2662732" cy="502920"/>
          </a:xfrm>
          <a:prstGeom prst="roundRect">
            <a:avLst>
              <a:gd name="adj" fmla="val 6000"/>
            </a:avLst>
          </a:prstGeom>
          <a:solidFill>
            <a:srgbClr val="F6D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N = 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81728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684"/>
                </a:solidFill>
                <a:latin typeface="Segoe UI"/>
                <a:ea typeface="Microsoft YaHei"/>
              </a:rPr>
              <a:t>窗口取前 52 帧（86.6% 的 clip）；源只有 17..51 帧时 N 取它自己的长度（48/44/…/16），两侧严格等长。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00200"/>
            <a:ext cx="9525" cy="3931920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D4ED8"/>
                </a:solidFill>
                <a:latin typeface="Segoe UI"/>
                <a:ea typeface="Microsoft YaHei"/>
              </a:rPr>
              <a:t>为什么必须做“N 帧 symlink 视图”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6596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5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350" b="0" i="0">
                <a:solidFill>
                  <a:srgbClr val="1B2430"/>
                </a:solidFill>
                <a:latin typeface="Segoe UI"/>
                <a:ea typeface="Microsoft YaHei"/>
              </a:rPr>
              <a:t>包的默认行为是</a:t>
            </a:r>
            <a:r>
              <a:rPr sz="1350" b="1" i="0">
                <a:solidFill>
                  <a:srgbClr val="1B2430"/>
                </a:solidFill>
                <a:latin typeface="Segoe UI"/>
                <a:ea typeface="Microsoft YaHei"/>
              </a:rPr>
              <a:t>读整段真值 → 均匀取 52 帧</a:t>
            </a:r>
            <a:r>
              <a:rPr sz="1350" b="0" i="0">
                <a:solidFill>
                  <a:srgbClr val="1B2430"/>
                </a:solidFill>
                <a:latin typeface="Segoe UI"/>
                <a:ea typeface="Microsoft YaHei"/>
              </a:rPr>
              <a:t>。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5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350" b="0" i="0">
                <a:solidFill>
                  <a:srgbClr val="1B2430"/>
                </a:solidFill>
                <a:latin typeface="Segoe UI"/>
                <a:ea typeface="Microsoft YaHei"/>
              </a:rPr>
              <a:t>整段真值常有 70–140 帧，而生成侧只有前 N 帧 → 两侧不是同一时间窗，指标就失去意义。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5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350" b="0" i="0">
                <a:solidFill>
                  <a:srgbClr val="1B2430"/>
                </a:solidFill>
                <a:latin typeface="Segoe UI"/>
                <a:ea typeface="Microsoft YaHei"/>
              </a:rPr>
              <a:t>视图先按 N 把真值裁成 images0001..N（只建软链，不动像素），两侧再走 FixedSample(52)：N ≤ 52 时它是恒等或对</a:t>
            </a:r>
            <a:r>
              <a:rPr sz="1350" b="1" i="0">
                <a:solidFill>
                  <a:srgbClr val="1B2430"/>
                </a:solidFill>
                <a:latin typeface="Segoe UI"/>
                <a:ea typeface="Microsoft YaHei"/>
              </a:rPr>
              <a:t>两侧同样</a:t>
            </a:r>
            <a:r>
              <a:rPr sz="1350" b="0" i="0">
                <a:solidFill>
                  <a:srgbClr val="1B2430"/>
                </a:solidFill>
                <a:latin typeface="Segoe UI"/>
                <a:ea typeface="Microsoft YaHei"/>
              </a:rPr>
              <a:t>向下取整到 4 的倍数。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5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350" b="1" i="0">
                <a:solidFill>
                  <a:srgbClr val="1B2430"/>
                </a:solidFill>
                <a:latin typeface="Segoe UI"/>
                <a:ea typeface="Microsoft YaHei"/>
              </a:rPr>
              <a:t>禁止补帧</a:t>
            </a:r>
            <a:r>
              <a:rPr sz="1350" b="0" i="0">
                <a:solidFill>
                  <a:srgbClr val="1B2430"/>
                </a:solidFill>
                <a:latin typeface="Segoe UI"/>
                <a:ea typeface="Microsoft YaHei"/>
              </a:rPr>
              <a:t>：生成帧数必须恰好等于 N，否则入口直接报错——这道闸门就是防止把 24 帧旧产物当 52 帧评分。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细节但会影响数值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差异三：几何、清单、编码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00200"/>
          <a:ext cx="10607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291840"/>
                <a:gridCol w="3566160"/>
                <a:gridCol w="2514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项目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旧（first24 / styleganv）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新（first52 / videogpt）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后果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缩放几何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tensor bilinear（no-AA）+ center crop 224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cv2.INTER_LANCZOS4 </a:t>
                      </a:r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stretch</a:t>
                      </a:r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 到 224×224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新口径</a:t>
                      </a:r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不保持长宽比</a:t>
                      </a:r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，I3D 看到的形变更大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像素区间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上游 preprocess_single → [−1, 1]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ToTensor：x/128 − 1 → [−1, 1]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数值等价，但插值核不同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id 清单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640 条（first24 可用清单）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642 条</a:t>
                      </a:r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（全部 test 源，skipped = 0）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N 不同 ⇒ 不可跨表比较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帧数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固定 24，不补帧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min(52, 源帧数)，不补帧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同上；新口径覆盖全片前段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编码路径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生成侧 PNG → tensor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生成侧 PNG → tensor（</a:t>
                      </a:r>
                      <a:r>
                        <a:rPr sz="115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不经 mp4 重编码</a:t>
                      </a:r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两侧都免编码损失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12064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430"/>
                </a:solidFill>
                <a:latin typeface="Segoe UI"/>
                <a:ea typeface="Microsoft YaHei"/>
              </a:rPr>
              <a:t>一句话：新口径不是“同一把尺子量得更细”，而是换了一把尺子——帧窗、几何、清单、聚合方式四处同时变。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差异四：代码身份与可复现性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45920"/>
          <a:ext cx="106070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931920"/>
                <a:gridCol w="521208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项目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旧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新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实现位置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外部目录 /home/wxy/video_metric（VIDEO_METRIC_ROOT）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仓库内 third_party/videovaet_fvd/（VIDEOVAET_FVD_ROOT 仅用于交叉验证）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完整性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SHA256 表写在文档里，加载时不校验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vendor/MANIFEST.sha256，</a:t>
                      </a:r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每次加载校验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；7 个文件逐字节 pin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自检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无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videovaet-fvd verify + selftest（本机 0.5691）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入口职责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IO + 上游调用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入口只做帧发现/校验/视图与落盘，</a:t>
                      </a:r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指标数学全在包内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，禁止另写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旧实现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eval_fvd.py / eval_signvip_fvd.py / eval_video_metric_fvd.py / redecode_fvd_frames.py / fetch_i3d_weights.py 已删除，不得恢复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684"/>
                </a:solidFill>
                <a:latin typeface="Segoe UI"/>
                <a:ea typeface="Microsoft YaHei"/>
              </a:rPr>
              <a:t>意义：以前“换了机器/换了副本，数字为什么不一样”要靠人查；现在加载即校验，不同机器只在浮点舍入级别有差（实测跨卡相对差 ~9e-5）。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一张表看完：口径对照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45920"/>
          <a:ext cx="10607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480560"/>
                <a:gridCol w="45720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维度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旧口径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新口径（现行）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正式名称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video_metric / styleganv first24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videovaet_fvd / videogpt first52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特征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I3D-K400 400 维 logits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I3D-K400 400 维 logits（同）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帧窗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24 帧连续（frame0..23）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min(52, 源帧数)，真值走 N 帧视图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几何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bilinear + center crop 224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LANCZOS4 stretch 224×224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清单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640 条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642 条（skipped 0）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聚合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pooled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：一次 Fréchet（均值 + 协方差）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per-clip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：逐对 Fréchet（N=1，仅均值项）→ 平均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本底 floor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real_split_half_fvd = 84.90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真值互配 clip i vs i+N/2 = 1503.97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数值量级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126–142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969–993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报告字段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fvd、real_split_half_fvd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fvd_mean、median/std/min/max、floor、window_histogram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两代数字对照（并排放，只是为了说明不可相减）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E7784"/>
                </a:solidFill>
                <a:latin typeface="Segoe UI"/>
                <a:ea typeface="Microsoft YaHei"/>
              </a:rPr>
              <a:t>旧：pooled · first24 · N=640 · floor 84.90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74519"/>
          <a:ext cx="45720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651760"/>
                <a:gridCol w="10972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臂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改动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FVD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文本全冻 12 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128.53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前缀注入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126.85*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base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129.75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motion loss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130.85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全 12 层可训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137.98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ref 层看 [ref;text]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141.83*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526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* E3/E7 由已删除的旧副本实现算出，内部也不可比。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72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B43E0B"/>
                </a:solidFill>
                <a:latin typeface="Segoe UI"/>
                <a:ea typeface="Microsoft YaHei"/>
              </a:rPr>
              <a:t>新：per-clip · first52 · N=642 · floor 1503.97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874519"/>
          <a:ext cx="51206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237"/>
                <a:gridCol w="2415396"/>
                <a:gridCol w="125600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臂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改动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fvd_mean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文本全冻 12 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969.43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ref 层看 [ref;text]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985.06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前缀注入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993.37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E1 / E2 / E4 / E6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已排队重测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进行中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1c+3a 交互臂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训练中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" y="507492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FDF3EC"/>
          </a:solidFill>
          <a:ln w="12700">
            <a:solidFill>
              <a:srgbClr val="F0C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B43E0B"/>
                </a:solidFill>
                <a:latin typeface="Segoe UI"/>
                <a:ea typeface="Microsoft YaHei"/>
              </a:rPr>
              <a:t>新表排序 E5 &lt; E3 &lt; E7（1.6% / 0.8% / 2.4%），三臂都在本底的 64–66%；旧表里各臂只差 ≤0.94%，且带 * 的两个数来自已删除的旧实现——这正是“换尺子”后必须整体重算、不能拿旧排序做结论的原因。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易被误读的点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为什么差一个数量级：拆开算给你看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pooled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：μ 是 640 条 clip 的平均，clip 之间的个体差异在求平均时被抹平；协方差项再把“分布宽度”对齐。于是同一批视频之间只剩很小的残余距离（~130）。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per-clip（N=1）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：每条 clip 只和自己的真值比，没有平均可借，比较的是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两条 clip 的 400 维 logits 均值差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。单条 clip 的 logits 均值本身波动大，平方后自然到几百上千。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同一个特征空间实测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：同一批 SignViP 特征上，per-clip 均值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1067.68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、pooled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191.41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，相差 ≈5.6 倍；本项目实测 969 与 130 相差 ≈7.5 倍。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600" b="1" i="0">
                <a:solidFill>
                  <a:srgbClr val="1B2430"/>
                </a:solidFill>
                <a:latin typeface="Segoe UI"/>
                <a:ea typeface="Microsoft YaHei"/>
              </a:rPr>
              <a:t>所以</a:t>
            </a:r>
            <a:r>
              <a:rPr sz="1600" b="0" i="0">
                <a:solidFill>
                  <a:srgbClr val="1B2430"/>
                </a:solidFill>
                <a:latin typeface="Segoe UI"/>
                <a:ea typeface="Microsoft YaHei"/>
              </a:rPr>
              <a:t>：不存在 f(新) = 旧 的换算。任何“新 969 相当于旧 129”的说法都是错的；能做的只有“同口径内重跑一遍、重新排序”。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8348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B2430"/>
                </a:solidFill>
                <a:latin typeface="Segoe UI"/>
                <a:ea typeface="Microsoft YaHei"/>
              </a:rPr>
              <a:t>附带的好处：per-clip 是配对比较，对“同一个说话人的外观/背景”这类共模因素不敏感，臂间差被放大（1.6%–2.4%，旧口径只有 ≤0.94%）；代价是噪声也更大，所以规范要求同时报 median/std/min/max。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怎么报、怎么比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新口径下的使用规则（强制）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5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500" b="1" i="0">
                <a:solidFill>
                  <a:srgbClr val="1B2430"/>
                </a:solidFill>
                <a:latin typeface="Segoe UI"/>
                <a:ea typeface="Microsoft YaHei"/>
              </a:rPr>
              <a:t>必须报全 5 项</a:t>
            </a:r>
            <a:r>
              <a:rPr sz="1500" b="0" i="0">
                <a:solidFill>
                  <a:srgbClr val="1B2430"/>
                </a:solidFill>
                <a:latin typeface="Segoe UI"/>
                <a:ea typeface="Microsoft YaHei"/>
              </a:rPr>
              <a:t>：fvd_mean、n、skipped、floor.fvd_mean、逐 clip 窗口分布；缺一项即视为无效。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5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500" b="1" i="0">
                <a:solidFill>
                  <a:srgbClr val="1B2430"/>
                </a:solidFill>
                <a:latin typeface="Segoe UI"/>
                <a:ea typeface="Microsoft YaHei"/>
              </a:rPr>
              <a:t>写全称</a:t>
            </a:r>
            <a:r>
              <a:rPr sz="1500" b="0" i="0">
                <a:solidFill>
                  <a:srgbClr val="1B2430"/>
                </a:solidFill>
                <a:latin typeface="Segoe UI"/>
                <a:ea typeface="Microsoft YaHei"/>
              </a:rPr>
              <a:t>：FVD (videovaet_fvd videogpt I3D-K400 logits, per-clip window min(52, 源帧数), 224² stretch, per-clip mean, N=642)。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5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500" b="1" i="0">
                <a:solidFill>
                  <a:srgbClr val="1B2430"/>
                </a:solidFill>
                <a:latin typeface="Segoe UI"/>
                <a:ea typeface="Microsoft YaHei"/>
              </a:rPr>
              <a:t>禁止混表</a:t>
            </a:r>
            <a:r>
              <a:rPr sz="1500" b="0" i="0">
                <a:solidFill>
                  <a:srgbClr val="1B2430"/>
                </a:solidFill>
                <a:latin typeface="Segoe UI"/>
                <a:ea typeface="Microsoft YaHei"/>
              </a:rPr>
              <a:t>：R(2+1)D（22–26）、16 帧（132–185）、32 帧 SignViP、video_metric/styleganv（126–142）、2026-10-29 上午的 24 帧过渡口径（1107/1112/1118）全部不得与新数字并列或相减。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5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500" b="1" i="0">
                <a:solidFill>
                  <a:srgbClr val="1B2430"/>
                </a:solidFill>
                <a:latin typeface="Segoe UI"/>
                <a:ea typeface="Microsoft YaHei"/>
              </a:rPr>
              <a:t>不跨 N 比较</a:t>
            </a:r>
            <a:r>
              <a:rPr sz="1500" b="0" i="0">
                <a:solidFill>
                  <a:srgbClr val="1B2430"/>
                </a:solidFill>
                <a:latin typeface="Segoe UI"/>
                <a:ea typeface="Microsoft YaHei"/>
              </a:rPr>
              <a:t>：fvd_mean 是逐 clip 平均，N 变化会改变尾部权重；对比必须同清单（ids SHA feb5565065977755…）。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500" b="1" i="0">
                <a:solidFill>
                  <a:srgbClr val="B43E0B"/>
                </a:solidFill>
                <a:latin typeface="Segoe UI"/>
                <a:ea typeface="Microsoft YaHei"/>
              </a:rPr>
              <a:t>▍ </a:t>
            </a:r>
            <a:r>
              <a:rPr sz="1500" b="1" i="0">
                <a:solidFill>
                  <a:srgbClr val="1B2430"/>
                </a:solidFill>
                <a:latin typeface="Segoe UI"/>
                <a:ea typeface="Microsoft YaHei"/>
              </a:rPr>
              <a:t>文献数字不可相减</a:t>
            </a:r>
            <a:r>
              <a:rPr sz="1500" b="0" i="0">
                <a:solidFill>
                  <a:srgbClr val="1B2430"/>
                </a:solidFill>
                <a:latin typeface="Segoe UI"/>
                <a:ea typeface="Microsoft YaHei"/>
              </a:rPr>
              <a:t>：RWTH-2014T 的 1025.45 是 pooled FVD，量纲不同，只能作量级参照。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30368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FDF3EC"/>
          </a:solidFill>
          <a:ln w="12700">
            <a:solidFill>
              <a:srgbClr val="F0C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B43E0B"/>
                </a:solidFill>
                <a:latin typeface="Segoe UI"/>
                <a:ea typeface="Microsoft YaHei"/>
              </a:rPr>
              <a:t>判读习惯：先看 fvd_mean / floor 的比值，再看臂间相对差是否大于噪声（跨卡 ~9e-5、单臂 std≈390）。单 seed 下 2% 以内的差只能说“同量级”。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43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B43E0B"/>
                </a:solidFill>
                <a:latin typeface="Segoe UI"/>
                <a:ea typeface="Microsoft YaHei"/>
              </a:rPr>
              <a:t>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B2430"/>
                </a:solidFill>
                <a:latin typeface="Segoe UI"/>
                <a:ea typeface="Microsoft YaHei"/>
              </a:rPr>
              <a:t>当前进度与复现命令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10607040" cy="9525"/>
          </a:xfrm>
          <a:prstGeom prst="rect">
            <a:avLst/>
          </a:prstGeom>
          <a:solidFill>
            <a:srgbClr val="D8D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684"/>
                </a:solidFill>
                <a:latin typeface="Segoe UI"/>
                <a:ea typeface="Microsoft YaHe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00200"/>
          <a:ext cx="10607038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3291839"/>
                <a:gridCol w="53949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臂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checkpoint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52 帧评测状态</a:t>
                      </a: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E5 / E3 / E7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在另一台机器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已完成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：969.43 / 985.06 / 993.37（floor 1503.97）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E1 / E2 / E4 / E6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本机 runs/m1_E{1,2,4,6}/final.pt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已排队</a:t>
                      </a:r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，等卡自动起（reports/queue/jobs_m1_first52_20261030.txt）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训练中（2×3090，30k）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训完自动跑（/tmp/m1_E9_chain.sh）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E8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无 final.pt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Segoe UI"/>
                          <a:ea typeface="Microsoft YaHei"/>
                        </a:rPr>
                        <a:t>不参与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3977639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3"/>
                </a:solidFill>
                <a:latin typeface="Segoe UI"/>
                <a:ea typeface="Microsoft YaHei"/>
              </a:rPr>
              <a:t>third_party/videovaet_fvd/bin/videovaet-fvd verify      # 每次换机器/改代码先自检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3"/>
                </a:solidFill>
                <a:latin typeface="Segoe UI"/>
                <a:ea typeface="Microsoft YaHei"/>
              </a:rPr>
              <a:t>python tools/eval_milestone.py --config RUN/config.yaml --checkpoint RUN/final.pt \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3"/>
                </a:solidFill>
                <a:latin typeface="Segoe UI"/>
                <a:ea typeface="Microsoft YaHei"/>
              </a:rPr>
              <a:t>  --out reports/eval/&lt;arm&gt;_first52_videovaet_&lt;date&gt; --decode-frames 52 \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3"/>
                </a:solidFill>
                <a:latin typeface="Segoe UI"/>
                <a:ea typeface="Microsoft YaHei"/>
              </a:rPr>
              <a:t>  --min-source-frames 12 --ids-file reports/eval/samples/m1_test_first52_ids.txt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7684"/>
                </a:solidFill>
                <a:latin typeface="Segoe UI"/>
                <a:ea typeface="Microsoft YaHei"/>
              </a:rPr>
              <a:t>参考：.trae/documents/FVD_SPEC.md（唯一来源）、AGENTS.md 第 5 条、台账 exp-121…128。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