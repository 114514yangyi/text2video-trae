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来源：configs/milestone1/base.yaml；.trae/documents/MILESTONE1_ARCH_PIXART_20261022.md。里程碑使用GT长度，不代表部署长度预测已解决。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来源：configs/milestone1/E1..E10.yaml；里程碑规格 §5。T=text，R=reference。E7没有cross-attention，因子2层分配不适用。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来源：tools/eval_signvip_fvd.py；reports/eval/samples/m1_test_first24_ids.txt。正式640条清单SHA256=6f96ad9dda2721b877dea1f08dab7bbf17bb4c6bcb9d90becb665824a69110f6。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线上来源：https://github.com/umnooob/signvip/blob/main/metrics/fvd/styleganv/fvd.py</a:t>
            </a:r>
          </a:p>
          <a:p>
            <a:r>
              <a:t>https://github.com/umnooob/signvip/blob/main/metrics/calculate_fvd.py</a:t>
            </a:r>
          </a:p>
          <a:p>
            <a:r>
              <a:t>https://github.com/umnooob/signvip/blob/main/train_stage2_multi_cond.py</a:t>
            </a:r>
          </a:p>
          <a:p>
            <a:r>
              <a:t>核验于2026-10-26。FVD源码SHA256 c9a1acbf811c3050d92b5289f4a4789ba6209a71a5bafbeba10df5576ffbda37；I3D权重SHA256 bec6519f66ea534e953026b4ae2c65553c17bf105611c746d904657e5860a5e2。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数值按用户2026-10-27给定保留。N来源：E7共同617与SignViP匹配报告 reports/eval/m1_E7_signvip_first24_20261024/fvd.json；四个旧基线N640，见 baselines_signvip_first24_20261024/*/fvd.json；E3本地报告N640，精确FVD141.83068105122402。E1/E2/E4未找到本地原始报告，N待核对，不推断。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本页为对用户提供数值的有限解读，并非新实验裁决；未启动重测、训练或更改实验计划。E1-E7差值129.7222-128.4762=1.2460。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84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83F"/>
                </a:solidFill>
                <a:latin typeface="Noto Sans CJK SC"/>
              </a:defRPr>
            </a:pPr>
            <a:r>
              <a:t>Milestone 1｜用受控实验选择条件注入方式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66779"/>
                </a:solidFill>
                <a:latin typeface="Noto Sans CJK SC"/>
              </a:defRPr>
            </a:pPr>
            <a:r>
              <a:t>目标：在冻结 VAE 的 latent 空间生成手语视频，以 SignViP 原样 I3D-FVD 为主指标。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66779"/>
                </a:solidFill>
                <a:latin typeface="Noto Sans CJK SC"/>
              </a:defRPr>
            </a:pPr>
            <a:r>
              <a:t>MILESTONE 1  /  实验设置与阶段结果  / 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8122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rPr sz="1900"/>
              <a:t>文本 + 首帧 → PixArt → 冻结 VAE → 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63550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4283F"/>
                </a:solidFill>
                <a:latin typeface="Noto Sans CJK SC"/>
              </a:defRPr>
            </a:pPr>
            <a:r>
              <a:t>每帧 1 个 1024 维 latent；扩散预测 x₀</a:t>
            </a:r>
          </a:p>
          <a:p>
            <a:pPr>
              <a:spcAft>
                <a:spcPts val="800"/>
              </a:spcAft>
              <a:defRPr sz="1700" b="0">
                <a:solidFill>
                  <a:srgbClr val="14283F"/>
                </a:solidFill>
                <a:latin typeface="Noto Sans CJK SC"/>
              </a:defRPr>
            </a:pPr>
            <a:r>
              <a:t>PixArt-α：28 层 / 宽度 1152 / 16 个注意力头</a:t>
            </a:r>
          </a:p>
          <a:p>
            <a:pPr>
              <a:spcAft>
                <a:spcPts val="800"/>
              </a:spcAft>
              <a:defRPr sz="1700" b="0">
                <a:solidFill>
                  <a:srgbClr val="14283F"/>
                </a:solidFill>
                <a:latin typeface="Noto Sans CJK SC"/>
              </a:defRPr>
            </a:pPr>
            <a:r>
              <a:t>全局条件只包含 timestep；不使用 pose / gloss / 光流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783080"/>
            <a:ext cx="3794760" cy="411480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0116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共同训练与推理配方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65176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训练 30,000 步 · 随机初始化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有效 batch 12 · bf16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主学习率 1e−4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文本学习率 1e−5（base）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EMA 0.9999；默认评测 raw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DDIM 50步 · CFG 2 · seed 42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里程碑生成长度使用 GT 长度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4283F"/>
                </a:solidFill>
                <a:latin typeface="Noto Sans CJK SC"/>
              </a:defRPr>
            </a:pPr>
            <a:r>
              <a:t>E1 基准：分层 cross-attention + 浅层可训练文本编码器</a:t>
            </a:r>
          </a:p>
          <a:p>
            <a:pPr>
              <a:spcAft>
                <a:spcPts val="800"/>
              </a:spcAft>
              <a:defRPr sz="1800" b="0">
                <a:solidFill>
                  <a:srgbClr val="14283F"/>
                </a:solidFill>
                <a:latin typeface="Noto Sans CJK SC"/>
              </a:defRPr>
            </a:pPr>
            <a:r>
              <a:t>mT5：embedding + 前3层 encoder 可训练</a:t>
            </a:r>
          </a:p>
          <a:p>
            <a:pPr>
              <a:spcAft>
                <a:spcPts val="800"/>
              </a:spcAft>
              <a:defRPr sz="1800" b="0">
                <a:solidFill>
                  <a:srgbClr val="14283F"/>
                </a:solidFill>
                <a:latin typeface="Noto Sans CJK SC"/>
              </a:defRPr>
            </a:pPr>
            <a:r>
              <a:t>条件布局：[text, text, text, ref] × 7</a:t>
            </a:r>
          </a:p>
          <a:p>
            <a:pPr>
              <a:spcAft>
                <a:spcPts val="800"/>
              </a:spcAft>
              <a:defRPr sz="1800" b="0">
                <a:solidFill>
                  <a:srgbClr val="14283F"/>
                </a:solidFill>
                <a:latin typeface="Noto Sans CJK SC"/>
              </a:defRPr>
            </a:pPr>
            <a:r>
              <a:t>默认不加 motion loss，不加载 PixArt 预训练权重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84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83F"/>
                </a:solidFill>
                <a:latin typeface="Noto Sans CJK SC"/>
              </a:defRPr>
            </a:pPr>
            <a:r>
              <a:t>十臂矩阵｜每次主要改变一个因素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66779"/>
                </a:solidFill>
                <a:latin typeface="Noto Sans CJK SC"/>
              </a:defRPr>
            </a:pPr>
            <a:r>
              <a:t>E1 是基准；E9 同时改变两项，用于检查双通路与 motion loss 的交互。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66779"/>
                </a:solidFill>
                <a:latin typeface="Noto Sans CJK SC"/>
              </a:defRPr>
            </a:pPr>
            <a:r>
              <a:t>MILESTONE 1  /  实验设置与阶段结果  / 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370332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60220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760220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相对 E1 的改动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6" y="1760220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要回答的问题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84832"/>
            <a:ext cx="10881360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53412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153412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基准：[T,T,T,R] × 7 分层 cross-attn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6" y="2153412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建立共同参照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78024"/>
            <a:ext cx="10881360" cy="370332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546604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2546604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每层 cross-attn 都接收 [ref ; text]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46604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所有层同时看两路是否更好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71216"/>
            <a:ext cx="10881360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39796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2939796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text层不变；ref层接收 [ref ; text]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2939796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只让少量层同时看两路是否更好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64408"/>
            <a:ext cx="10881360" cy="370332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332988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3332988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增加多尺度 motion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3332988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时序差分监督是否改善生成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657600"/>
            <a:ext cx="10881360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726180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9616" y="3726180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完整12层 mT5 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726180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深且冻结 vs 浅且训练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50791"/>
            <a:ext cx="10881360" cy="370332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119372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4119372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完整12层 mT5 可训练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4119372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更强文本编码器是否有收益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443983"/>
            <a:ext cx="10881360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512564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9616" y="4512564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条件作为 self-attn 前缀；无 cross-attn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4512564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更换条件注入通路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837176"/>
            <a:ext cx="10881360" cy="370332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905756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9616" y="4905756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前缀 + cross-attn 双通路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6" y="4905756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两种通路能否互补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230368"/>
            <a:ext cx="10881360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298948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99616" y="5298948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E8 + motion 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5298948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时序监督与双通路的交互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623560"/>
            <a:ext cx="10881360" cy="370332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5692140"/>
            <a:ext cx="521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99616" y="5692140"/>
            <a:ext cx="5733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加载可兼容的 PixArt block 预训练权重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3216" y="5692140"/>
            <a:ext cx="399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检验初始化收益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1264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66779"/>
                </a:solidFill>
                <a:latin typeface="Noto Sans CJK SC"/>
              </a:defRPr>
            </a:pPr>
            <a:r>
              <a:t>本次结果包含 E1 / E2 / E3 / E4 / E7；其余实验不在本次结果表中。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84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83F"/>
                </a:solidFill>
                <a:latin typeface="Noto Sans CJK SC"/>
              </a:defRPr>
            </a:pPr>
            <a:r>
              <a:t>FVD 协议｜first24，256 × 256 → 224 × 224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66779"/>
                </a:solidFill>
                <a:latin typeface="Noto Sans CJK SC"/>
              </a:defRPr>
            </a:pPr>
            <a:r>
              <a:t>“256 × 256”是统一源图像尺寸；I3D 实际输入为 224 × 224。FVD 越低越好。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66779"/>
                </a:solidFill>
                <a:latin typeface="Noto Sans CJK SC"/>
              </a:defRPr>
            </a:pPr>
            <a:r>
              <a:t>MILESTONE 1  /  实验设置与阶段结果  / 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489204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5939"/>
            <a:ext cx="1709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步骤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1805939"/>
            <a:ext cx="87508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当前固定设置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9424"/>
            <a:ext cx="1088136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18004"/>
            <a:ext cx="1709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样本集合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2318004"/>
            <a:ext cx="87508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PHOENIX test；源视频≥24帧，固定有效清单640条 / 原642条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881360" cy="489204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30068"/>
            <a:ext cx="1709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时间窗口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2830068"/>
            <a:ext cx="87508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源 frame 0–23 连续24帧，包含条件参考帧；不补帧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73552"/>
            <a:ext cx="1088136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42132"/>
            <a:ext cx="1709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统一源几何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3342132"/>
            <a:ext cx="87508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RGB，PIL bilinear resize 至 256 × 256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85616"/>
            <a:ext cx="10881360" cy="489204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54196"/>
            <a:ext cx="1709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官方预处理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3854196"/>
            <a:ext cx="87508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短边缩至224 → 中心裁剪224² → [−1,1]；bilinear，无抗锯齿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97680"/>
            <a:ext cx="1088136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66260"/>
            <a:ext cx="1709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视频特征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8336" y="4366260"/>
            <a:ext cx="87508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I3D / Kinetics-400，400维 softmax 前 logits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09744"/>
            <a:ext cx="10881360" cy="489204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878324"/>
            <a:ext cx="170992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距离计算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8336" y="4878324"/>
            <a:ext cx="87508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SignViP 原始 frechet_distance，使用同一份源码与I3D权重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559552"/>
            <a:ext cx="10881360" cy="612648"/>
          </a:xfrm>
          <a:prstGeom prst="rect">
            <a:avLst/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875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D641D"/>
                </a:solidFill>
                <a:latin typeface="Noto Sans CJK SC"/>
              </a:defRPr>
            </a:pPr>
            <a:r>
              <a:t>跨模型必须使用相同 GT、ID、帧数与尺寸；SignViP 对照的共同有效子集为617条。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84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83F"/>
                </a:solidFill>
                <a:latin typeface="Noto Sans CJK SC"/>
              </a:defRPr>
            </a:pPr>
            <a:r>
              <a:t>评测脚本｜本地封装输入，官方代码计算 FVD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66779"/>
                </a:solidFill>
                <a:latin typeface="Noto Sans CJK SC"/>
              </a:defRPr>
            </a:pPr>
            <a:r>
              <a:t>在线核验：本地 third_party/signvip/fvd.py 与 SignViP main 源码逐字节一致。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66779"/>
                </a:solidFill>
                <a:latin typeface="Noto Sans CJK SC"/>
              </a:defRPr>
            </a:pPr>
            <a:r>
              <a:t>MILESTONE 1  /  实验设置与阶段结果  / 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① tools/eval_milestone.py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检查配置与固定清单 → 使用 checkpoint 生成视频 → 子进程调用 FVD 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② tools/eval_signvip_fvd.py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读取图像 / 视频、截取前24帧、统一256尺寸；校验源码与权重 SHA256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10881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③ third_party/signvip/fvd.py（SignViP 原样文件）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get_fvd_feats → preprocess_single → I3D；frechet_distance → 特征统计与距离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官方仓库的验证链：train_stage2_multi_cond.py::log_valid</a:t>
            </a:r>
          </a:p>
          <a:p>
            <a:pPr>
              <a:spcAft>
                <a:spcPts val="800"/>
              </a:spcAft>
              <a:defRPr sz="1600" b="0">
                <a:solidFill>
                  <a:srgbClr val="14283F"/>
                </a:solidFill>
                <a:latin typeface="Noto Sans CJK SC"/>
              </a:defRPr>
            </a:pPr>
            <a:r>
              <a:t>→ metrics/calculate_fvd.py（only_final=True）→ metrics/fvd/styleganv/fvd.py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D641D"/>
                </a:solidFill>
                <a:latin typeface="Noto Sans CJK SC"/>
              </a:defRPr>
            </a:pPr>
            <a:r>
              <a:t>采用相同 FVD 核心实现；官方训练期验证使用 dev / 32帧 / 272×224，与本项目协议不同。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84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83F"/>
                </a:solidFill>
                <a:latin typeface="Noto Sans CJK SC"/>
              </a:defRPr>
            </a:pPr>
            <a:r>
              <a:t>阶段结果｜保留本次提供的全部数值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66779"/>
                </a:solidFill>
                <a:latin typeface="Noto Sans CJK SC"/>
              </a:defRPr>
            </a:pPr>
            <a:r>
              <a:t>first24 · 源图像256×256 · SignViP I3D-FVD ↓；不同样本量分组展示，不作统一排名。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66779"/>
                </a:solidFill>
                <a:latin typeface="Noto Sans CJK SC"/>
              </a:defRPr>
            </a:pPr>
            <a:r>
              <a:t>MILESTONE 1  /  实验设置与阶段结果  / 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897880" cy="498347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5939"/>
            <a:ext cx="3355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历史模型 / 外部参照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5" y="1805939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FVD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4416" y="1805939"/>
            <a:ext cx="841247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样本量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58568"/>
            <a:ext cx="589788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27148"/>
            <a:ext cx="3355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SignViP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2327148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218.5075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6" y="2327148"/>
            <a:ext cx="841247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617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5897880" cy="498347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8356"/>
            <a:ext cx="3355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prefix60k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848356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232.1191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848356"/>
            <a:ext cx="841247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640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00984"/>
            <a:ext cx="589788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69564"/>
            <a:ext cx="3355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route_t_align_20k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3369564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303.6804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3369564"/>
            <a:ext cx="841247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640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22191"/>
            <a:ext cx="5897880" cy="498347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90772"/>
            <a:ext cx="3355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route_t_align_20k_ema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5" y="3890772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302.2961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890772"/>
            <a:ext cx="841247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640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343400"/>
            <a:ext cx="589788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411980"/>
            <a:ext cx="3355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route_t_align_20k_ema_k4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4411980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231.5626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4416" y="4411980"/>
            <a:ext cx="841247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640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737360"/>
            <a:ext cx="4754880" cy="498347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94576" y="1805939"/>
            <a:ext cx="207568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Milestone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1805939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FVD 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0736" y="1805939"/>
            <a:ext cx="97840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样本量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258568"/>
            <a:ext cx="475488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94576" y="2327148"/>
            <a:ext cx="207568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E1 ·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2327148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129.7222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0736" y="2327148"/>
            <a:ext cx="97840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待核对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2779776"/>
            <a:ext cx="4754880" cy="498347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94576" y="2848356"/>
            <a:ext cx="207568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E2 · 全层拼接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0576" y="2848356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142.3202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0736" y="2848356"/>
            <a:ext cx="97840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待核对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300984"/>
            <a:ext cx="475488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94576" y="3369564"/>
            <a:ext cx="207568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E3 · ref层拼接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6" y="3369564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141.83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0736" y="3369564"/>
            <a:ext cx="97840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640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3822191"/>
            <a:ext cx="4754880" cy="498347"/>
          </a:xfrm>
          <a:prstGeom prst="rect">
            <a:avLst/>
          </a:prstGeom>
          <a:solidFill>
            <a:srgbClr val="E5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94576" y="3890772"/>
            <a:ext cx="207568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E4 · motion loss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0576" y="3890772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130.8486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0736" y="3890772"/>
            <a:ext cx="97840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待核对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4343400"/>
            <a:ext cx="4754880" cy="49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94576" y="4411980"/>
            <a:ext cx="207568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E7 · 前缀注入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4411980"/>
            <a:ext cx="106984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128.4762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0736" y="4411980"/>
            <a:ext cx="97840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283F"/>
                </a:solidFill>
                <a:latin typeface="Noto Sans CJK SC"/>
              </a:defRPr>
            </a:pPr>
            <a:r>
              <a:t>617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330952"/>
            <a:ext cx="10378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 CJK SC"/>
              </a:defRPr>
            </a:pPr>
            <a:r>
              <a:t>已确认可直接比较：共同617条上，E7 128.4762 vs SignViP 218.5075</a:t>
            </a:r>
          </a:p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 CJK SC"/>
              </a:defRPr>
            </a:pPr>
            <a:r>
              <a:t>FVD 绝对降低 90.0313，约 41.2%；仅说明该固定子集上的指标差异。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8463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83F"/>
                </a:solidFill>
                <a:latin typeface="Noto Sans CJK SC"/>
              </a:defRPr>
            </a:pPr>
            <a:r>
              <a:t>当前观察｜前缀注入值得保留，细小差距待验证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66779"/>
                </a:solidFill>
                <a:latin typeface="Noto Sans CJK SC"/>
              </a:defRPr>
            </a:pPr>
            <a:r>
              <a:t>将“当前读数”与“严格结论”分开：FVD 不能替代语义准确性或完整视频质量评价。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66779"/>
                </a:solidFill>
                <a:latin typeface="Noto Sans CJK SC"/>
              </a:defRPr>
            </a:pPr>
            <a:r>
              <a:t>MILESTONE 1  /  实验设置与阶段结果  /  2026.10.27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87F8C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83F"/>
                </a:solidFill>
                <a:latin typeface="Noto Sans CJK SC"/>
              </a:defRPr>
            </a:pPr>
            <a:r>
              <a:t>已确认的对照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67712"/>
            <a:ext cx="9738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779"/>
                </a:solidFill>
                <a:latin typeface="Noto Sans CJK SC"/>
              </a:defRPr>
            </a:pPr>
            <a:r>
              <a:t>在共同617条上，E7 的 FVD 低于本次 SignViP 生成结果。</a:t>
            </a:r>
          </a:p>
          <a:p>
            <a:pPr>
              <a:spcAft>
                <a:spcPts val="800"/>
              </a:spcAft>
              <a:defRPr sz="1700" b="0">
                <a:solidFill>
                  <a:srgbClr val="566779"/>
                </a:solidFill>
                <a:latin typeface="Noto Sans CJK SC"/>
              </a:defRPr>
            </a:pPr>
            <a:r>
              <a:t>这不是与 SignViP 论文表格数字的直接比较。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87F8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08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83F"/>
                </a:solidFill>
                <a:latin typeface="Noto Sans CJK SC"/>
              </a:defRPr>
            </a:pPr>
            <a:r>
              <a:t>Milestone 1 的初步读数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93591"/>
            <a:ext cx="9738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779"/>
                </a:solidFill>
                <a:latin typeface="Noto Sans CJK SC"/>
              </a:defRPr>
            </a:pPr>
            <a:r>
              <a:t>所列分数中 E7 最低，E1 接近；E2 / E3 更高。</a:t>
            </a:r>
          </a:p>
          <a:p>
            <a:pPr>
              <a:spcAft>
                <a:spcPts val="800"/>
              </a:spcAft>
              <a:defRPr sz="1700" b="0">
                <a:solidFill>
                  <a:srgbClr val="566779"/>
                </a:solidFill>
                <a:latin typeface="Noto Sans CJK SC"/>
              </a:defRPr>
            </a:pPr>
            <a:r>
              <a:t>E4 暂未显示出相对 E1 的数值改善。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87F8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4348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83F"/>
                </a:solidFill>
                <a:latin typeface="Noto Sans CJK SC"/>
              </a:defRPr>
            </a:pPr>
            <a:r>
              <a:t>下一轮汇总应先统一清单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919472"/>
            <a:ext cx="9738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66779"/>
                </a:solidFill>
                <a:latin typeface="Noto Sans CJK SC"/>
              </a:defRPr>
            </a:pPr>
            <a:r>
              <a:t>核对 E1 / E2 / E4 的原始报告与 ID 哈希；全部方法统一640条，</a:t>
            </a:r>
          </a:p>
          <a:p>
            <a:pPr>
              <a:spcAft>
                <a:spcPts val="800"/>
              </a:spcAft>
              <a:defRPr sz="1700" b="0">
                <a:solidFill>
                  <a:srgbClr val="566779"/>
                </a:solidFill>
                <a:latin typeface="Noto Sans CJK SC"/>
              </a:defRPr>
            </a:pPr>
            <a:r>
              <a:t>或统一到与 SignViP 共同的617条，再做正式对照。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D641D"/>
                </a:solidFill>
                <a:latin typeface="Noto Sans CJK SC"/>
              </a:defRPr>
            </a:pPr>
            <a:r>
              <a:t>E7 与 E1 当前数值只差1.2460；样本量未齐且缺少重复实验，暂不据此认定稳定优胜。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