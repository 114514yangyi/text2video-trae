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  <Relationship Id="rId1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这一页是本次组会汇报的封面，主题是从德语文本直接生成手语视频。整个方法建立在两个前提上：一是冻结的 VAE 把每一帧画面压成一个 1024 维的 token，二是扩散过程在这个 latent 空间里进行，全程没有 pose 中介、也没有 pose 监督，条件只来自文本。左下角的数字是当前表现最好的实验 prefix_120k 的结果：在单侧测试集上 BLEU-4 是 3.18，BLEU-1 是 12.55，ROUGE-L 是 12.60，WER 是 100.5，检索指标 MRR 是 0.0336，也就是零信息地板的 3.06 倍。右下角这条真实视频抽帧来自 PHOENIX14T，用来说明我们要生成的对象长什么样。本期汇报按三段展开：模型架构与向量数据流、参数与模型表现，以及当前困难点。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先交代整体脉络，三段内容是固定的顺序。第一段讲模型架构与向量数据流，包括三段式架构图，以及每一个节点吃进什么形状的向量、又吐出什么形状的向量。第二段讲参数与模型表现，先罗列复现这套结果需要的模型与采样参数，其中包含 CFG 等采样侧设置；再给出量级参照、回译和画质指标，以及生成视频与真实视频的逐帧对比。第三段是当前困难点，说明主瓶颈在哪里、哪条改进方向已经走不通、评测栈还有哪些没有收口的地方。全篇共 11 页，大约讲 10 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这一页交代任务定义和四条必须同时成立的方法硬约束。任务是德语文本到 RWTH-PHOENIX-Weather 2014T 手语视频，按每一段不超过 256 帧过滤之后，可用训练片段只有 7021 条，平均句长大约 110 帧，数据规模是偏小的。第一条硬约束是生成必须基于已经训练好的 1-token VAE，每一帧压成 1024 维，不能更换 tokenizer。第二条是扩散必须在 VAE 的 latent 空间里做，不能回到像素空间。第三条是必须使用 x-prediction，也就是网络直接预测干净的 latent。第四条是纯文本条件，不能引入 pose、参考帧或光流等额外监督；部署时需要的视频长度也由文本预测，真实视频的第一帧只是冻结 VAE 解码时本来就需要的锚点，不算新增条件。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这一页是整条链路的架构图，横向分三段，从左到右看。第一段是冻结的 VAE 编码，离线执行，与相邻项目共用同一条 TiTok-CVAE，输入的向量形状是 B×T×3×256×256，也就是 batch 乘帧数乘三通道乘 256 乘 256 的像素，输出是 B×T×1024 的 latent，每一帧就一个 1024 维 token，这部分是灰底，表示冻结、不可训练。第二段是 DiT-B 主干，全链路里唯一可训练的部分，参数量约 1.81 亿，输入是归一化后加过噪的 latent，形状 B×T×1024，输出是它预测的干净 latent x0，形状同样是 B×T×1024。第三段是冻结的 VAE 解码，只在生成和可视化时加载，输入除了干净的 latent，还要加上参考帧特征 128×512 和真实视频第一帧 1×3×256×256 作为解码锚点，输出还原成 B×T×3×256×256 的视频帧。下面这一行是条件支路，条件只来自文本：德语文本先经过 mT5-base，变成 token 嵌入 B×120×768 和前缀 token B×120×768；另一路把池化文本 B×768 送进长度头，预测出帧数，再做 log 归一化变成 B×1，经过一个 MLP 变成长度向量 B×768。两条支路都汇入主干：前缀 token 进自注意力，池化文本和长度向量合成的条件向量 c 用来驱动每一层。右下角是图例和形状记号：灰表示冻结、蓝表示可训练，B 是 batch、T 是运行时变化的帧数、1024 是 latent 维、768 是主干隐藏维。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这一页把上页的分块拆开，逐个节点标出输入和输出的张量形状，分六步看。第一步文本编码：输入是 token id，形状 B×120，经过冻结的 mT5-base，输出 token 嵌入 B×120×768，同时带一个 mask B×120。第二步条件投影：输入是嵌入 B×120×768 和帧数，输出是前缀 token B×120×768，以及池化向量 B×768 和长度向量 B×768，两者相加得到条件向量 c，形状 B×768。第三步加噪与归一化：输入是干净 latent x0，形状 B×T×1024，按 cosine 调度加噪、时间步用 logit-normal 采样，输出带噪 latent，形状不变，还是 B×T×1024。第四步帧嵌入：带噪 latent 经过一个 1024 到 768 的线性层，再加位置编码，输出帧隐状态 B×T×768。第五步是 12 层 DiTBlock：文本前缀和帧 token 拼成一条联合序列，形状 B×(120+T)×768，在同一场自注意力里互相可见，走完 12 层再切回帧的部分，输出 B×T×768。第六步输出层 FinalLayer：输入帧隐状态 B×T×768，输出预测的干净 latent x0，形状 B×T×1024。页面底部补充了每层内部的权重形状，以及解码这一步：x0 反归一化之后，交给冻结 VAE，配合参考帧特征和真实首帧，解码成视频帧 B×T×3×256×256。这里的形状都是从 prefix_120k 的权重文件里读出来的，比如帧嵌入层是 768×1024，类别嵌入是 2×768，位置编码是 1×512×768。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这一页把复现这套结果需要的关键参数平铺出来，分成四组。第一组是主干 DiT-B：latent 维 1024，隐藏维 768，深度 12 层，注意力头 12 个，mlp_ratio 是 4.0，最大帧数 512，频率嵌入维 256，不学习 sigma，开启 text_prefix，参数量大约 1.82 亿，其中主干 1.81 亿、条件编码器 1.18M。第二组是条件与文本：mT5-base，最大长度 120，训练时文本丢弃概率 0.10，也就是用空提示替换，这正是 CFG 无条件分支的来源；长度编码用 log 归一化、上限 512 帧，长度预测是 8 个桶加 expectation 回读，测试集上平均误差大约 16 帧。第三组是扩散配方：预测目标是 x0，噪声调度是 cosine，时间步总数 1000，beta 从 1e-4 到 0.02，方差类型 fixed_large，时间步采样用 logit-normal。第四组是采样与训练，也是部署口径：采样器用 DPM-Solver++、二阶，也就是 2M，50 步，CFG 是 2.0，guidance_rescale 关掉设为 0.0，eta 是 0.0，clip_denoised 为 false，随机种子 42；训练是两段各三万步、累计 12 万步，batch 16，AdamW 学习率 1e-4、权重衰减 0，bf16 精度，EMA 衰减 0.9999，单卡训练。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这一页给的是量级参照，用来回答“当前这个分数到底算高还是低”。口径要特别注意：这一页的三个数字来自 32 条测试视频，和后面那张 642 条的测试表不是一回事，只能看量级，不能比大小。同样用回译指标 BLEU-4 衡量：原始真实视频直接回译能到 29.51，把真实 latent 解码回来的冻结 VAE 重建上限是 14.93，而当前生成只有 3.18。也就是说，光是 VAE 重建这一步就损失了大约一半，从重建到生成又损失了更多，差距主要落在动作语义上，而不是语言形式上。下面这一块是 prefix_120k 在单侧测试集 642 条上的完整数字：BLEU-1 12.55、BLEU-4 3.18、ROUGE-L 12.60、WER 100.5、FD 24.62、MRR 0.0336，是零信息地板 0.0110 的 3.06 倍，口径是 seed42、DPM-Solver++ 二阶 50 步、CFG 2.0、oracle 长度。画质方面，在同样这 32 条视频上逐帧对真实帧计算再取平均，当前生成是 13.91 分贝、SSIM 0.776，而冻结 VAE 重建锚点是 26.37 分贝。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这一页开始直接看画面，上排是真实视频，下排是 prefix_120k 的生成结果，两者同一文本、同一帧序，各取八帧等距抽样。左栏给出这几条样例的文本和逐条画质：第一条是 aber erfreuliche nachricht，PSNR 14.24 分贝，SSIM 0.792，对应的重建锚点是 25.84 分贝；第二条句子更长，讲的是云量和阳光，PSNR 13.20 分贝，SSIM 0.789。目检下来的总体印象是：帧是干净连续的，没有碎帧，人形轮廓和背景都能辨认出来，但动作细节偏弱。也就是说，画质上的观感和重建锚点之间的差距，和回译指标给出的结论是一致的。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这一页再补两段样例，用来确认“干净但动作弱”是稳定现象而不是个例。第三条句子的 PSNR 是 15.17 分贝，SSIM 0.829，是四条里画质最高的一条；第四条讲的是具体气温数字，PSNR 13.24 分贝，SSIM 0.765。两排同样是上排真实、下排生成，逐帧对齐。从这两段也能看出，画面结构是稳定的，不会崩坏，但手上具体在比什么动作，经常和文本对不上。这一点和前面的回译结果互相印证：模型不是画不出来，而是没学会这段文本应该对应什么手势。顺带说明，当前用的 x0 预测、cosine 调度和 logit-normal 时间步采样，已经修掉了早期用噪声预测加线性 beta 调度时出现的噪声帧，所以瓶颈不在画质，而在动作内容。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这一页用一整段话集中讲当前遇到的困难。最要紧的是动作语义：BLEU-4 只有 3.18，而冻结 VAE 重建上限是 14.93、真实视频是 29.51，生成视频回译出来的句子通顺却常常不对，说明模型学到了德语天气预报的语言分布，没学到对应的手势动作，这不是评分口径的问题。其次是改“条件使用方式”这条轴已经饱和：到 2026-10-16 累计九条机制类改动，包括双流、文本压力课程、REPA 表示对齐、多尺度动态损失、self-conditioning、条件 margin、软时序对齐、保义改写增强和固定槽接口，全部零收益或显著为负，正向结论只剩文本分支学习率调到 5e-5 和增加训练预算。检索能力的绝对水平也低：MRR 0.0336 虽然是零信息地板 0.0110 的 3.06 倍，但 top-1 只有 1.09%。加容量同样不是解法：同样三万步下加宽或加深都明显更差，加宽时 BLEU-1 掉 1.48、FVD 是 28.56，加深时 BLEU-1 掉 1.12、FVD 是 26.09，都差于基线的 21.73，说明模型还没到容量饱和，是先欠训练，而可用训练数据只有 7021 条。冻结 VAE 的表示上限是接受的代价：每帧只有一个 1024 维 token，手部细节在重建阶段就已经丢失，硬约束又禁止更换 tokenizer。评测栈还有没收口的地方：FVD 跨不同 N 不可比、部署预算点上的多随机种子配对检验还没做完、长度预测平均误差大约 16 帧，软时序对齐也还在待裁决。此外还有算力与存储约束：共享集群上不抢占别人的作业，输出盘可用空间少于 12 GiB 时就暂停起新作业，评测帧跑完就删。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最后收束成三件事。第一是结论：三段式架构和四条硬约束都成立，prefix_120k 是当前最好结果，而且这个提升是靠配方不变、单纯增加训练预算拿到的。第二是关键数字：BLEU-1 12.55，BLEU-4 3.18，ROUGE-L 12.60，MRR 0.0336，是零信息地板的 3.06 倍；两个上限锚点的 BLEU-4 分别是冻结 VAE 重建的 14.93 和真实视频的 29.51，这两组数字口径不同，不能直接比大小。第三是下一步的判据：如果新提案仍然落在“改条件使用方式”这条轴上，应当先假定它大概率无效；优先级放在补充训练预算和数据上，同时把评测口径收口，包括同一 N 下的锚点重测和多随机种子的配对检验。一句话总结就是，先补预算与数据，再攻动作语义，因为条件使用方式这条轴已经饱和。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t2v_architecture_brief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t2v_architecture_brief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8181bc5e290c616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a906d84878f8cf2.png"/>
  <Relationship Id="rId3" Type="http://schemas.openxmlformats.org/officeDocument/2006/relationships/image" Target="../media/image_616b543764c0fa93.pn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0ecab579675740d.png"/>
  <Relationship Id="rId3" Type="http://schemas.openxmlformats.org/officeDocument/2006/relationships/image" Target="../media/image_76a68d922fce8039.pn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09600" y="552450"/>
            <a:ext cx="1676400" cy="28575"/>
            <a:chOff x="609600" y="552450"/>
            <a:chExt cx="1676400" cy="28575"/>
          </a:xfrm>
        </p:grpSpPr>
        <p:sp>
          <p:nvSpPr>
            <p:cNvPr id="2" name="Rectangle 2"/>
            <p:cNvSpPr/>
            <p:nvPr/>
          </p:nvSpPr>
          <p:spPr>
            <a:xfrm>
              <a:off x="609600" y="552450"/>
              <a:ext cx="16764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90550" y="997268"/>
            <a:ext cx="8953500" cy="3023044"/>
            <a:chOff x="590550" y="997268"/>
            <a:chExt cx="8953500" cy="3023044"/>
          </a:xfrm>
        </p:grpSpPr>
        <p:sp>
          <p:nvSpPr>
            <p:cNvPr id="4" name="TextBox 4"/>
            <p:cNvSpPr txBox="1"/>
            <p:nvPr/>
          </p:nvSpPr>
          <p:spPr>
            <a:xfrm>
              <a:off x="602742" y="997268"/>
              <a:ext cx="28851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组会汇报 · 项目进展 · 2026-10-16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0550" y="1474470"/>
              <a:ext cx="89535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450"/>
                </a:lnSpc>
              </a:pPr>
              <a:r>
                <a:rPr lang="zh-CN" sz="5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text→video</a:t>
              </a:r>
              <a:br/>
              <a:r>
                <a:rPr lang="zh-CN" sz="5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从德语文本直接生成手语视频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7408" y="3188970"/>
              <a:ext cx="7461504" cy="831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冻结 VAE（1 token/帧 × 1024 维）+ DiT-B 潜空间扩散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 pose 监督，条件只来自文本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0550" y="4350068"/>
            <a:ext cx="3760603" cy="2054733"/>
            <a:chOff x="590550" y="4350068"/>
            <a:chExt cx="3760603" cy="2054733"/>
          </a:xfrm>
        </p:grpSpPr>
        <p:sp>
          <p:nvSpPr>
            <p:cNvPr id="8" name="TextBox 8"/>
            <p:cNvSpPr txBox="1"/>
            <p:nvPr/>
          </p:nvSpPr>
          <p:spPr>
            <a:xfrm>
              <a:off x="602742" y="4350068"/>
              <a:ext cx="3748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当前最好实验 prefix_120k（test 642 单侧）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4751070"/>
              <a:ext cx="163738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3.18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6970" y="5091112"/>
              <a:ext cx="10789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BLEU-4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5607368"/>
              <a:ext cx="251688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BLEU-1 12.55 · ROUGE-L 12.60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WER 100.5 · MRR 0.0336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MRR = 零信息地板的 3.06×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19600" y="4884420"/>
            <a:ext cx="7162800" cy="1432560"/>
            <a:chOff x="4419600" y="4884420"/>
            <a:chExt cx="7162800" cy="1432560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19600" y="4884420"/>
              <a:ext cx="7162800" cy="143256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604266" y="6554152"/>
            <a:ext cx="10983468" cy="205359"/>
            <a:chOff x="604266" y="6554152"/>
            <a:chExt cx="10983468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604266" y="6554152"/>
              <a:ext cx="32112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 PHOENIX14T 视频抽帧（tagesschau-6952）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4593" y="6554152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P01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540068"/>
            <a:ext cx="3848481" cy="955167"/>
            <a:chOff x="593598" y="540068"/>
            <a:chExt cx="3848481" cy="95516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40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汇报脉络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79158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本期汇报的三段内容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8170" y="1752600"/>
            <a:ext cx="10984230" cy="4581525"/>
            <a:chOff x="598170" y="1752600"/>
            <a:chExt cx="10984230" cy="4581525"/>
          </a:xfrm>
        </p:grpSpPr>
        <p:sp>
          <p:nvSpPr>
            <p:cNvPr id="5" name="Line 5"/>
            <p:cNvSpPr/>
            <p:nvPr/>
          </p:nvSpPr>
          <p:spPr>
            <a:xfrm>
              <a:off x="609600" y="1752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8170" y="2271712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83970" y="2252662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模型架构与向量数据流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86256" y="2644140"/>
              <a:ext cx="56279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三段式架构图，以及每个节点的输入 / 输出张量形状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3352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8170" y="3871912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83970" y="3852862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参数与模型表现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86256" y="4244340"/>
              <a:ext cx="74720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模型与采样参数（含 CFG），量级参照与画质指标，生成 vs 真实对比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495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8170" y="5472112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83970" y="5453062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当前困难点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86256" y="58445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主瓶颈、已饱和轴与评测栈未收口项，以及下一步判断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6324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04266" y="6554152"/>
            <a:ext cx="10983468" cy="205359"/>
            <a:chOff x="604266" y="6554152"/>
            <a:chExt cx="10983468" cy="205359"/>
          </a:xfrm>
        </p:grpSpPr>
        <p:sp>
          <p:nvSpPr>
            <p:cNvPr id="19" name="TextBox 19"/>
            <p:cNvSpPr txBox="1"/>
            <p:nvPr/>
          </p:nvSpPr>
          <p:spPr>
            <a:xfrm>
              <a:off x="604266" y="6554152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 11 页 · 约 10 分钟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4593" y="6554152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P02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540068"/>
            <a:ext cx="3424428" cy="955167"/>
            <a:chOff x="593598" y="540068"/>
            <a:chExt cx="3424428" cy="95516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40068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背景 · 约束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79158"/>
              <a:ext cx="34244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课题与方法硬约束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9600" y="1600200"/>
            <a:ext cx="10972800" cy="952500"/>
            <a:chOff x="609600" y="1600200"/>
            <a:chExt cx="10972800" cy="952500"/>
          </a:xfrm>
        </p:grpSpPr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95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9056" y="1767840"/>
              <a:ext cx="70715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任务：德语文本 → 手语视频（RWTH-PHOENIX-Weather 2014T）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31342" y="2178368"/>
              <a:ext cx="6347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可用训练片段 7021 条（max_num_frames=256 过滤后）；平均句长约 110 帧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456" y="2743200"/>
            <a:ext cx="10981944" cy="2905125"/>
            <a:chOff x="600456" y="2743200"/>
            <a:chExt cx="10981944" cy="2905125"/>
          </a:xfrm>
        </p:grpSpPr>
        <p:sp>
          <p:nvSpPr>
            <p:cNvPr id="9" name="Line 9"/>
            <p:cNvSpPr/>
            <p:nvPr/>
          </p:nvSpPr>
          <p:spPr>
            <a:xfrm>
              <a:off x="609600" y="2743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0456" y="29489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7656" y="2948940"/>
              <a:ext cx="10021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冻结 VAE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34056" y="2948940"/>
              <a:ext cx="79404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生成必须基于已训练好的 1-token（每帧 1024 维）VAE，不换 tokenizer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3390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0456" y="35966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7656" y="35966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潜空间扩散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34056" y="3596640"/>
              <a:ext cx="47932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扩散在 VAE latent 空间进行，不回到像素态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4038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0456" y="42443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7656" y="4244340"/>
              <a:ext cx="1496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x-prediction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34056" y="4244340"/>
              <a:ext cx="55309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必须预测干净 latent x0，噪声或速度只作等价换算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4686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0456" y="48920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7656" y="4892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纯文本条件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34056" y="4892040"/>
              <a:ext cx="65002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条件只能来自文本，不引入 pose、reference 帧等额外监督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36342" y="5264468"/>
              <a:ext cx="5439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部署所需长度也由文本预测；GT 首帧只是冻结 VAE 解码的固有锚点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09600" y="5638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602742" y="5931218"/>
            <a:ext cx="5998564" cy="264033"/>
            <a:chOff x="602742" y="5931218"/>
            <a:chExt cx="5998564" cy="264033"/>
          </a:xfrm>
        </p:grpSpPr>
        <p:sp>
          <p:nvSpPr>
            <p:cNvPr id="28" name="TextBox 28"/>
            <p:cNvSpPr txBox="1"/>
            <p:nvPr/>
          </p:nvSpPr>
          <p:spPr>
            <a:xfrm>
              <a:off x="602742" y="5931218"/>
              <a:ext cx="59985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四条同时成立 · 来源：AGENTS.md 方法硬约束（用户 2026-10-12 指令）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4266" y="6554152"/>
            <a:ext cx="10983468" cy="205359"/>
            <a:chOff x="604266" y="6554152"/>
            <a:chExt cx="1098346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604266" y="6554152"/>
              <a:ext cx="25907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口径：PHOENIX14T · 25 fps · 256×256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94593" y="6554152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P03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482918"/>
            <a:ext cx="2152269" cy="898017"/>
            <a:chOff x="593598" y="482918"/>
            <a:chExt cx="2152269" cy="8980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8291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 · 三段式链路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64858"/>
              <a:ext cx="21522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模型架构图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1809750"/>
            <a:ext cx="10972800" cy="2080451"/>
            <a:chOff x="609600" y="1809750"/>
            <a:chExt cx="10972800" cy="2080451"/>
          </a:xfrm>
        </p:grpSpPr>
        <p:sp>
          <p:nvSpPr>
            <p:cNvPr id="5" name="Rectangle 5"/>
            <p:cNvSpPr/>
            <p:nvPr/>
          </p:nvSpPr>
          <p:spPr>
            <a:xfrm>
              <a:off x="609600" y="1809750"/>
              <a:ext cx="3200400" cy="2038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9056" y="1977390"/>
              <a:ext cx="17695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冻结 VAE 编码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31342" y="22736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离线执行 · 只读缓存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38200" y="2590800"/>
              <a:ext cx="2743200" cy="9525"/>
            </a:xfrm>
            <a:custGeom>
              <a:avLst/>
              <a:gdLst/>
              <a:ahLst/>
              <a:cxnLst/>
              <a:rect l="l" t="t" r="r" b="b"/>
              <a:pathLst>
                <a:path w="2743200" h="9525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1342" y="2711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342" y="2940368"/>
              <a:ext cx="22007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视频帧 [B,T,3,256,256]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3264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342" y="3492818"/>
              <a:ext cx="1644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latent [B,T,1024]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848100" y="2828925"/>
              <a:ext cx="3048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191000" y="1809750"/>
              <a:ext cx="3810000" cy="20383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10456" y="1977390"/>
              <a:ext cx="14249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DiT-B 主干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12742" y="2273618"/>
              <a:ext cx="2003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可训练 · 约 1.81 亿参数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419600" y="25908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12742" y="2711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12742" y="2940368"/>
              <a:ext cx="2608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归一化带噪 latent [B,T,1024]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12742" y="3264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12742" y="3492818"/>
              <a:ext cx="2682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预测干净 latent x0 [B,T,1024]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039100" y="2828925"/>
              <a:ext cx="3048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382000" y="1809750"/>
              <a:ext cx="3200400" cy="2038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01456" y="1977390"/>
              <a:ext cx="17695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冻结 VAE 解码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03742" y="227361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仅生成 / 可视化时加载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610600" y="2590800"/>
              <a:ext cx="2743200" cy="9525"/>
            </a:xfrm>
            <a:custGeom>
              <a:avLst/>
              <a:gdLst/>
              <a:ahLst/>
              <a:cxnLst/>
              <a:rect l="l" t="t" r="r" b="b"/>
              <a:pathLst>
                <a:path w="2743200" h="9525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03742" y="2711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03742" y="2940368"/>
              <a:ext cx="2096834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干净 latent [B,T,1024]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＋ 参考帧特征 [128,512]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＋ GT 首帧 [1,3,256,256]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03742" y="3626168"/>
              <a:ext cx="2618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 视频帧 [B,T,3,256,256]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2742" y="4000500"/>
            <a:ext cx="8693658" cy="1566101"/>
            <a:chOff x="602742" y="4000500"/>
            <a:chExt cx="8693658" cy="1566101"/>
          </a:xfrm>
        </p:grpSpPr>
        <p:sp>
          <p:nvSpPr>
            <p:cNvPr id="31" name="Rectangle 31"/>
            <p:cNvSpPr/>
            <p:nvPr/>
          </p:nvSpPr>
          <p:spPr>
            <a:xfrm>
              <a:off x="2286000" y="4305300"/>
              <a:ext cx="3352800" cy="12001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507742" y="44453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条件支路之一 · 文本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07742" y="4731068"/>
              <a:ext cx="2113979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德语文本 [B] → mT5-base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token 嵌入 [B,120,768]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前缀 token [B,120,768]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43600" y="4305300"/>
              <a:ext cx="3352800" cy="12001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65342" y="44453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条件支路之二 · 长度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65342" y="4731068"/>
              <a:ext cx="2156841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池化文本 [B,768]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长度头（8 桶）→ 帧数 [B]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log 归一化 [B,1] → MLP</a:t>
              </a:r>
            </a:p>
          </p:txBody>
        </p:sp>
        <p:sp>
          <p:nvSpPr>
            <p:cNvPr id="37" name="Line 37"/>
            <p:cNvSpPr/>
            <p:nvPr/>
          </p:nvSpPr>
          <p:spPr>
            <a:xfrm flipV="1">
              <a:off x="3962400" y="4000500"/>
              <a:ext cx="1" cy="2667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8" name="Line 38"/>
            <p:cNvSpPr/>
            <p:nvPr/>
          </p:nvSpPr>
          <p:spPr>
            <a:xfrm flipV="1">
              <a:off x="7620000" y="4000500"/>
              <a:ext cx="1" cy="2667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2742" y="4807268"/>
              <a:ext cx="1959674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两条支路都汇入主干：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前缀 token 进自注意力，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池化文本与长度向量进 c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" y="5816918"/>
            <a:ext cx="10979658" cy="264033"/>
            <a:chOff x="609600" y="5816918"/>
            <a:chExt cx="10979658" cy="264033"/>
          </a:xfrm>
        </p:grpSpPr>
        <p:sp>
          <p:nvSpPr>
            <p:cNvPr id="41" name="Rectangle 41"/>
            <p:cNvSpPr/>
            <p:nvPr/>
          </p:nvSpPr>
          <p:spPr>
            <a:xfrm>
              <a:off x="609600" y="5829300"/>
              <a:ext cx="266700" cy="1524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83742" y="581691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灰 = 冻结（不可训练）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276600" y="5829300"/>
              <a:ext cx="266700" cy="152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650742" y="5816918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蓝 = 可训练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11376" y="5816918"/>
              <a:ext cx="61778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 = batch · T = 帧数（运行时可变）· 1024 = latent 维 · 768 = 主干隐藏维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4266" y="6554152"/>
            <a:ext cx="10983468" cy="205359"/>
            <a:chOff x="604266" y="6554152"/>
            <a:chExt cx="10983468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604266" y="6554152"/>
              <a:ext cx="74245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来源：t2v/models/dit.py · t2v/models/conditioning.py · t2v/adapters/vae.py · runs/prefix_120k/final.pt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94593" y="6554152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P04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482918"/>
            <a:ext cx="2152269" cy="898017"/>
            <a:chOff x="593598" y="482918"/>
            <a:chExt cx="2152269" cy="8980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829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 · 张量形状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64858"/>
              <a:ext cx="21522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向量数据流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1581150"/>
            <a:ext cx="10972800" cy="1676400"/>
            <a:chOff x="609600" y="1581150"/>
            <a:chExt cx="10972800" cy="16764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3505200" cy="16764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9056" y="1767840"/>
              <a:ext cx="11935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文本编码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838200" y="21336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2311718"/>
              <a:ext cx="248259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输入：token id [B,120]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输出：token 嵌入 [B,120,768]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342" y="2845118"/>
              <a:ext cx="3080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＋ mask [B,120]（冻结 mT5-base）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4152900" y="2419350"/>
              <a:ext cx="1524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1" name="Rectangle 11"/>
            <p:cNvSpPr/>
            <p:nvPr/>
          </p:nvSpPr>
          <p:spPr>
            <a:xfrm>
              <a:off x="4343400" y="1581150"/>
              <a:ext cx="3505200" cy="1676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62856" y="1767840"/>
              <a:ext cx="11935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条件投影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572000" y="21336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65142" y="2311718"/>
              <a:ext cx="3322701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输入：嵌入 [B,120,768]、帧数 [B]</a:t>
              </a:r>
            </a:p>
            <a:p>
              <a:pPr algn="l">
                <a:lnSpc>
                  <a:spcPts val="1950"/>
                </a:lnSpc>
                <a:spcBef>
                  <a:spcPts val="300"/>
                </a:spcBef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输出：前缀 [B,120,768]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池化 [B,768] + 长度 [B,768] → c [B,768]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886700" y="2419350"/>
              <a:ext cx="1524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8077200" y="1581150"/>
              <a:ext cx="3505200" cy="16764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96656" y="1767840"/>
              <a:ext cx="16781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加噪与归一化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305800" y="21336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98942" y="2311718"/>
              <a:ext cx="2439734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输入：latent x0 [B,T,1024]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输出：带噪 latent [B,T,1024]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98942" y="284511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cosine 调度 · logit-normal 采 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362200" y="3257550"/>
            <a:ext cx="7467600" cy="381000"/>
            <a:chOff x="2362200" y="3257550"/>
            <a:chExt cx="7467600" cy="381000"/>
          </a:xfrm>
        </p:grpSpPr>
        <p:sp>
          <p:nvSpPr>
            <p:cNvPr id="22" name="Freeform 22"/>
            <p:cNvSpPr/>
            <p:nvPr/>
          </p:nvSpPr>
          <p:spPr>
            <a:xfrm>
              <a:off x="2362200" y="3257550"/>
              <a:ext cx="7467600" cy="381000"/>
            </a:xfrm>
            <a:custGeom>
              <a:avLst/>
              <a:gdLst/>
              <a:ahLst/>
              <a:cxnLst/>
              <a:rect l="l" t="t" r="r" b="b"/>
              <a:pathLst>
                <a:path w="7467600" h="381000">
                  <a:moveTo>
                    <a:pt x="7467600" y="0"/>
                  </a:moveTo>
                  <a:lnTo>
                    <a:pt x="7467600" y="209550"/>
                  </a:lnTo>
                  <a:lnTo>
                    <a:pt x="0" y="209550"/>
                  </a:ln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609600" y="3676650"/>
            <a:ext cx="10972800" cy="1676400"/>
            <a:chOff x="609600" y="3676650"/>
            <a:chExt cx="10972800" cy="1676400"/>
          </a:xfrm>
        </p:grpSpPr>
        <p:sp>
          <p:nvSpPr>
            <p:cNvPr id="24" name="Rectangle 24"/>
            <p:cNvSpPr/>
            <p:nvPr/>
          </p:nvSpPr>
          <p:spPr>
            <a:xfrm>
              <a:off x="609600" y="3676650"/>
              <a:ext cx="3505200" cy="1676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9056" y="386334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帧嵌入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38200" y="42291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1342" y="4407218"/>
              <a:ext cx="2439734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输入：带噪 latent [B,T,1024]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输出：帧隐状态 [B,T,768]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342" y="4940618"/>
              <a:ext cx="26004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Linear(1024→768) ＋ 位置编码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4152900" y="4514850"/>
              <a:ext cx="1524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43400" y="3676650"/>
              <a:ext cx="3505200" cy="1676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562856" y="3863340"/>
              <a:ext cx="1750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12 × DiTBlock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572000" y="42291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65142" y="4407218"/>
              <a:ext cx="2491169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输入：联合序列 [B,120+T,768]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输出：切回帧 [B,T,768]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5142" y="4940618"/>
              <a:ext cx="2803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文本前缀与帧 token 同场自注意力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886700" y="4514850"/>
              <a:ext cx="1524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077200" y="3676650"/>
              <a:ext cx="3505200" cy="1676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96656" y="3863340"/>
              <a:ext cx="22500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⑥ 输出层 FinalLayer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8305800" y="42291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98942" y="4407218"/>
              <a:ext cx="2679764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输入：帧隐状态 [B,T,768]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输出：预测 latent x0 [B,T,1024]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98942" y="4940618"/>
              <a:ext cx="23252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adaLN 调制 ＋ 零初始化线性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9600" y="5581650"/>
            <a:ext cx="10972800" cy="613601"/>
            <a:chOff x="609600" y="5581650"/>
            <a:chExt cx="10972800" cy="613601"/>
          </a:xfrm>
        </p:grpSpPr>
        <p:sp>
          <p:nvSpPr>
            <p:cNvPr id="42" name="Rectangle 42"/>
            <p:cNvSpPr/>
            <p:nvPr/>
          </p:nvSpPr>
          <p:spPr>
            <a:xfrm>
              <a:off x="609600" y="5581650"/>
              <a:ext cx="10972800" cy="590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1342" y="5683568"/>
              <a:ext cx="911771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每层内部：adaLN-Zero (4608,768) → self-attn qkv (2304,768) → cross-attn (2304,768) → MLP fc1 (3072,768)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解码：x0 [B,T,1024] → 反归一化 [B,T,1024] → 冻结 VAE 解码 → 视频帧 [B,T,3,256,256]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4266" y="6554152"/>
            <a:ext cx="10983468" cy="205359"/>
            <a:chOff x="604266" y="6554152"/>
            <a:chExt cx="10983468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604266" y="6554152"/>
              <a:ext cx="7890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形状取自 runs/prefix_120k/final.pt 权重：x_embedder (768,1024) · type_embed (2,768) · pos_embed (1,512,768)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994593" y="6554152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P05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482918"/>
            <a:ext cx="3000375" cy="898017"/>
            <a:chOff x="593598" y="482918"/>
            <a:chExt cx="3000375" cy="8980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829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参数 · 复现口径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64858"/>
              <a:ext cx="300037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模型与采样参数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1600200"/>
            <a:ext cx="10972800" cy="1242251"/>
            <a:chOff x="609600" y="1600200"/>
            <a:chExt cx="10972800" cy="1242251"/>
          </a:xfrm>
        </p:grpSpPr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1162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9056" y="1729740"/>
              <a:ext cx="12102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主干 DiT-B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31342" y="2083118"/>
              <a:ext cx="83917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latent_dim 1024 · hidden_size 768 · depth 12 · num_heads 12 · mlp_ratio 4.0 · max_frames 512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1342" y="2349818"/>
              <a:ext cx="584301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frequency_embedding_size 256 · learn_sigma false · text_prefix true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参数量约 1.82 亿（主干 1.81 亿 ＋ 条件编码器 1.18M）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456" y="2971800"/>
            <a:ext cx="10981944" cy="1013651"/>
            <a:chOff x="600456" y="2971800"/>
            <a:chExt cx="10981944" cy="1013651"/>
          </a:xfrm>
        </p:grpSpPr>
        <p:sp>
          <p:nvSpPr>
            <p:cNvPr id="10" name="Line 10"/>
            <p:cNvSpPr/>
            <p:nvPr/>
          </p:nvSpPr>
          <p:spPr>
            <a:xfrm>
              <a:off x="609600" y="2971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00456" y="31203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条件与文本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2742" y="3473768"/>
              <a:ext cx="805472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mT5-base · max_length 120 · 文本丢弃概率 0.10（训练时替换为空提示，即 CFG 的无条件分支）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长度编码 log_normalized（max_frames 512）· 长度预测 8 桶 ＋ expectation 回读，test MAE ≈ 16 帧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0456" y="4152900"/>
            <a:ext cx="10981944" cy="1013651"/>
            <a:chOff x="600456" y="4152900"/>
            <a:chExt cx="10981944" cy="1013651"/>
          </a:xfrm>
        </p:grpSpPr>
        <p:sp>
          <p:nvSpPr>
            <p:cNvPr id="14" name="Line 14"/>
            <p:cNvSpPr/>
            <p:nvPr/>
          </p:nvSpPr>
          <p:spPr>
            <a:xfrm>
              <a:off x="609600" y="4152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0456" y="43014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扩散配方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2742" y="4654868"/>
              <a:ext cx="84147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prediction_type x0 · noise_schedule cosine · num_timesteps 1000 · beta_start 1e-4 · beta_end 0.02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model_var_type fixed_large · timestep_sampling logit_normal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0456" y="5181600"/>
            <a:ext cx="10981944" cy="1299401"/>
            <a:chOff x="600456" y="5181600"/>
            <a:chExt cx="10981944" cy="1299401"/>
          </a:xfrm>
        </p:grpSpPr>
        <p:sp>
          <p:nvSpPr>
            <p:cNvPr id="18" name="Line 18"/>
            <p:cNvSpPr/>
            <p:nvPr/>
          </p:nvSpPr>
          <p:spPr>
            <a:xfrm>
              <a:off x="609600" y="5181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0456" y="53301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采样与训练（部署口径）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2742" y="5721668"/>
              <a:ext cx="8431911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采样：sampler dpm-solver++ · solver_order 2（2M）· steps 50 NFE · cfg_scale 2.0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guidance_rescale 0.0（关闭）· eta 0.0 · clip_denoised false · seed 42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训练：steps 30000 + 60000（累计 120k）· batch 16 · AdamW lr 1e-4（wd 0）· bf16 · EMA 0.9999 · 单卡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4266" y="6554152"/>
            <a:ext cx="10983468" cy="205359"/>
            <a:chOff x="604266" y="6554152"/>
            <a:chExt cx="10983468" cy="205359"/>
          </a:xfrm>
        </p:grpSpPr>
        <p:sp>
          <p:nvSpPr>
            <p:cNvPr id="22" name="TextBox 22"/>
            <p:cNvSpPr txBox="1"/>
            <p:nvPr/>
          </p:nvSpPr>
          <p:spPr>
            <a:xfrm>
              <a:off x="604266" y="6554152"/>
              <a:ext cx="56011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来源：configs/dit_b_text_prefix.yaml · runs/prefix_120k/final.pt（step 120k）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4593" y="6554152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P06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482918"/>
            <a:ext cx="5968746" cy="898017"/>
            <a:chOff x="593598" y="482918"/>
            <a:chExt cx="5968746" cy="8980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829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结果 · 量级参照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64858"/>
              <a:ext cx="59687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量级参照：上限锚点与画质指标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19798" y="1549718"/>
            <a:ext cx="10597687" cy="3026283"/>
            <a:chOff x="519798" y="1549718"/>
            <a:chExt cx="10597687" cy="3026283"/>
          </a:xfrm>
        </p:grpSpPr>
        <p:sp>
          <p:nvSpPr>
            <p:cNvPr id="5" name="TextBox 5"/>
            <p:cNvSpPr txBox="1"/>
            <p:nvPr/>
          </p:nvSpPr>
          <p:spPr>
            <a:xfrm>
              <a:off x="602742" y="1549718"/>
              <a:ext cx="51302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BLEU-4 回译指标 · 上限锚点为 test 32 条口径，只作量级参照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519798" y="1885950"/>
              <a:ext cx="10597687" cy="2690051"/>
              <a:chOff x="519798" y="1885950"/>
              <a:chExt cx="10597687" cy="2690051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5232368" y="1885950"/>
                <a:ext cx="9525" cy="2324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24100">
                    <a:moveTo>
                      <a:pt x="0" y="0"/>
                    </a:moveTo>
                    <a:lnTo>
                      <a:pt x="0" y="23241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  <a:prstDash val="dash"/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7950232" y="1885950"/>
                <a:ext cx="9525" cy="2324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24100">
                    <a:moveTo>
                      <a:pt x="0" y="0"/>
                    </a:moveTo>
                    <a:lnTo>
                      <a:pt x="0" y="23241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  <a:prstDash val="dash"/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10668000" y="1885950"/>
                <a:ext cx="9525" cy="2324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24100">
                    <a:moveTo>
                      <a:pt x="0" y="0"/>
                    </a:moveTo>
                    <a:lnTo>
                      <a:pt x="0" y="23241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  <a:prstDash val="dash"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457764" y="43119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125555" y="4311968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843418" y="4311968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561187" y="4311968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30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2514600" y="1885950"/>
                <a:ext cx="9525" cy="2324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24100">
                    <a:moveTo>
                      <a:pt x="0" y="0"/>
                    </a:moveTo>
                    <a:lnTo>
                      <a:pt x="0" y="232410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2514600" y="4210050"/>
                <a:ext cx="8153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153400" h="9525">
                    <a:moveTo>
                      <a:pt x="0" y="0"/>
                    </a:moveTo>
                    <a:lnTo>
                      <a:pt x="81534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901446" y="251364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真实视频直接回译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2514600" y="2430780"/>
                <a:ext cx="8020240" cy="3429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603992" y="2513648"/>
                <a:ext cx="513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29.51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2866" y="2959418"/>
                <a:ext cx="15361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冻结 VAE 重建上限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514600" y="2876550"/>
                <a:ext cx="4057269" cy="3429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641592" y="2959418"/>
                <a:ext cx="513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14.93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19798" y="3405188"/>
                <a:ext cx="18492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当前生成 prefix_120k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2514600" y="3322320"/>
                <a:ext cx="864298" cy="342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448240" y="3405188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3.18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609600" y="4591050"/>
            <a:ext cx="10972800" cy="1185101"/>
            <a:chOff x="609600" y="4591050"/>
            <a:chExt cx="10972800" cy="1185101"/>
          </a:xfrm>
        </p:grpSpPr>
        <p:sp>
          <p:nvSpPr>
            <p:cNvPr id="26" name="Rectangle 26"/>
            <p:cNvSpPr/>
            <p:nvPr/>
          </p:nvSpPr>
          <p:spPr>
            <a:xfrm>
              <a:off x="609600" y="4591050"/>
              <a:ext cx="109728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1342" y="4731068"/>
              <a:ext cx="9064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当前生成 prefix_120k · 全量 test 642 单侧 · seed42 · DPM-Solver++(2M) 50 NFE · CFG 2.0 · oracle 长度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9056" y="5006340"/>
              <a:ext cx="547039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BLEU-1 12.55 · BLEU-4 3.18 · ROUGE-L 12.60</a:t>
              </a:r>
              <a:br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WER 100.5 · FD 24.62 · MRR 0.0336（地板 3.06×）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342" y="5512118"/>
              <a:ext cx="9003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画质（同批 32 条 test，逐帧对 GT 取平均）：本模型 13.91 dB / SSIM 0.776 · 冻结 VAE 重建锚点 26.37 dB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266" y="6554152"/>
            <a:ext cx="10983468" cy="205359"/>
            <a:chOff x="604266" y="6554152"/>
            <a:chExt cx="109834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604266" y="6554152"/>
              <a:ext cx="9153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来源：reports/eval/MATRIX_TABLE.md · reports/eval/vae_recon_test32/recon_quality.json · gen_quality_prefix_120k_test32.json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94593" y="6554152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P07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482918"/>
            <a:ext cx="9035407" cy="1083183"/>
            <a:chOff x="593598" y="482918"/>
            <a:chExt cx="9035407" cy="108318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8291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对比 · 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64858"/>
              <a:ext cx="372126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生成 vs 真实（一）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2742" y="1302068"/>
              <a:ext cx="9026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prefix_120k · DPM-Solver++(2M) 50 NFE · CFG 2.0 · oracle 长度 · 每格上排 GT、下排生成，8 帧等距抽样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2742" y="1695450"/>
            <a:ext cx="10979658" cy="2133600"/>
            <a:chOff x="602742" y="1695450"/>
            <a:chExt cx="10979658" cy="2133600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1759268"/>
              <a:ext cx="153962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aber erfreuliche</a:t>
              </a:r>
              <a:br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nachricht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4266" y="238220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heute-6704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4266" y="2610802"/>
              <a:ext cx="897446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PSNR 14.24 dB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SSIM 0.792</a:t>
              </a:r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48000" y="1695450"/>
              <a:ext cx="8534400" cy="21336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602742" y="3981450"/>
            <a:ext cx="10979658" cy="2133600"/>
            <a:chOff x="602742" y="3981450"/>
            <a:chExt cx="10979658" cy="2133600"/>
          </a:xfrm>
        </p:grpSpPr>
        <p:sp>
          <p:nvSpPr>
            <p:cNvPr id="11" name="TextBox 11"/>
            <p:cNvSpPr txBox="1"/>
            <p:nvPr/>
          </p:nvSpPr>
          <p:spPr>
            <a:xfrm>
              <a:off x="602742" y="4064318"/>
              <a:ext cx="1591056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in den übrigen</a:t>
              </a:r>
              <a:br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gebieten viel sonne</a:t>
              </a:r>
              <a:br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und nur ein paar</a:t>
              </a:r>
              <a:br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lockere wolken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4266" y="5354002"/>
              <a:ext cx="1176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tagesschau-6952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4266" y="5582602"/>
              <a:ext cx="897446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PSNR 13.20 dB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SSIM 0.789</a:t>
              </a:r>
            </a:p>
          </p:txBody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3981450"/>
              <a:ext cx="8534400" cy="2133600"/>
            </a:xfrm>
            <a:prstGeom prst="rect">
              <a:avLst/>
            </a:prstGeom>
          </p:spPr>
        </p:pic>
      </p:grpSp>
      <p:grpSp>
        <p:nvGrpSpPr>
          <p:cNvPr id="18" name="Group 18"/>
          <p:cNvGrpSpPr/>
          <p:nvPr/>
        </p:nvGrpSpPr>
        <p:grpSpPr>
          <a:xfrm>
            <a:off x="604266" y="6554152"/>
            <a:ext cx="10983468" cy="205359"/>
            <a:chOff x="604266" y="6554152"/>
            <a:chExt cx="10983468" cy="205359"/>
          </a:xfrm>
        </p:grpSpPr>
        <p:sp>
          <p:nvSpPr>
            <p:cNvPr id="16" name="TextBox 16"/>
            <p:cNvSpPr txBox="1"/>
            <p:nvPr/>
          </p:nvSpPr>
          <p:spPr>
            <a:xfrm>
              <a:off x="604266" y="6554152"/>
              <a:ext cx="63078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目检：帧干净连续、人形与背景可辨认，动作细节弱 · 来源 reports/figures/deck_120k_compare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4593" y="6554152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P08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482918"/>
            <a:ext cx="7292340" cy="1083183"/>
            <a:chOff x="593598" y="482918"/>
            <a:chExt cx="7292340" cy="108318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8291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对比 · 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64858"/>
              <a:ext cx="372126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生成 vs 真实（二）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2742" y="1302068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同一协议再两段样例：画面不碎、结构可辨认，但动作内容经常不对，与回译结果互相印证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2742" y="1695450"/>
            <a:ext cx="10979658" cy="2133600"/>
            <a:chOff x="602742" y="1695450"/>
            <a:chExt cx="10979658" cy="2133600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1759268"/>
              <a:ext cx="1899666" cy="1254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auch morgen</a:t>
              </a:r>
              <a:br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erwartet uns eine</a:t>
              </a:r>
              <a:br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ruhige herbstmischung</a:t>
              </a:r>
              <a:br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aus hochnebel wolken</a:t>
              </a:r>
              <a:br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und sonne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4266" y="3429952"/>
              <a:ext cx="31778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tagesschau-133 · PSNR 15.17 dB / SSIM 0.829</a:t>
              </a: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48000" y="1695450"/>
              <a:ext cx="8534400" cy="2133600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02742" y="3981450"/>
            <a:ext cx="10979658" cy="2133600"/>
            <a:chOff x="602742" y="3981450"/>
            <a:chExt cx="10979658" cy="2133600"/>
          </a:xfrm>
        </p:grpSpPr>
        <p:sp>
          <p:nvSpPr>
            <p:cNvPr id="10" name="TextBox 10"/>
            <p:cNvSpPr txBox="1"/>
            <p:nvPr/>
          </p:nvSpPr>
          <p:spPr>
            <a:xfrm>
              <a:off x="602742" y="4064318"/>
              <a:ext cx="1616774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am tag elf grad</a:t>
              </a:r>
              <a:br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im vogtland und</a:t>
              </a:r>
              <a:br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einundzwanzig grad</a:t>
              </a:r>
              <a:br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am oberrhein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4266" y="5354002"/>
              <a:ext cx="1176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tagesschau-2701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4266" y="5582602"/>
              <a:ext cx="897446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PSNR 13.24 dB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SSIM 0.765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3981450"/>
              <a:ext cx="8534400" cy="21336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604266" y="6554152"/>
            <a:ext cx="10983468" cy="205359"/>
            <a:chOff x="604266" y="6554152"/>
            <a:chExt cx="10983468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604266" y="6554152"/>
              <a:ext cx="53749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目检：x0 + cosine + logit-normal 修掉了早期 ε + 线性 β 的噪声帧，瓶颈在动作内容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4593" y="6554152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P09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482918"/>
            <a:ext cx="2152269" cy="898017"/>
            <a:chOff x="593598" y="482918"/>
            <a:chExt cx="2152269" cy="8980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829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困难点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64858"/>
              <a:ext cx="21522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当前困难点</a:t>
              </a:r>
            </a:p>
          </p:txBody>
        </p:sp>
      </p:grpSp>
      <p:sp>
        <p:nvSpPr>
          <p:cNvPr id="5" name="Rectangle 5"/>
          <p:cNvSpPr/>
          <p:nvPr/>
        </p:nvSpPr>
        <p:spPr>
          <a:xfrm>
            <a:off x="609600" y="1562100"/>
            <a:ext cx="57150" cy="464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981456" y="1634490"/>
            <a:ext cx="9493758" cy="4562094"/>
            <a:chOff x="981456" y="1634490"/>
            <a:chExt cx="9493758" cy="4562094"/>
          </a:xfrm>
        </p:grpSpPr>
        <p:sp>
          <p:nvSpPr>
            <p:cNvPr id="6" name="TextBox 6"/>
            <p:cNvSpPr txBox="1"/>
            <p:nvPr/>
          </p:nvSpPr>
          <p:spPr>
            <a:xfrm>
              <a:off x="981456" y="1634490"/>
              <a:ext cx="9493758" cy="45620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最要紧的困难是动作语义：BLEU-4 只有 3.18，冻结 VAE 重建上限 14.93、真实视频 29.51，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生成视频回译出的句子通顺却常常不对，说明模型学到了德语天气预报的语言分布，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没学到对应的手势动作，这不是评分口径的问题。其次是改“条件使用方式”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这条轴已饱和：到 2026-10-16 累计九条机制类改动——双流、文本压力课程、REPA 对齐、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多尺度动态损失、self-conditioning、条件 margin、软时序对齐、保义改写增强、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固定槽接口——全部零收益或显著为负，正向结论只剩文本分支 lr 5e-5 与加预算。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检索的绝对水平也低：MRR 0.0336 是地板 0.0110 的 3.06 倍，top-1 仅 1.09%。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加容量同样不是解法：同步数 30k 下加宽或加深都显著更差（B1 −1.48 / −1.12，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FVD 28.56 / 26.09 对基线 21.73），说明先欠训练，而可用训练数据只有 7021 条。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冻结 VAE 的表示上限是接受的代价：每帧仅 1 个 1024 维 token，手部细节在重建阶段就已损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失，硬约束又禁止换 tokenizer。评测栈还有未收口项：FVD 跨 N 不可比、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部署预算点 ≥3 seed 配对检验未完成、长度预测 MAE ≈ 16 帧、软时序对齐待裁决。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此外是算力与存储约束：共享集群不抢占别人作业，输出盘可用少于 12 GiB 时暂停起新作业，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评测帧跑完即删。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4266" y="6554152"/>
            <a:ext cx="10983468" cy="205359"/>
            <a:chOff x="604266" y="6554152"/>
            <a:chExt cx="10983468" cy="205359"/>
          </a:xfrm>
        </p:grpSpPr>
        <p:sp>
          <p:nvSpPr>
            <p:cNvPr id="8" name="TextBox 8"/>
            <p:cNvSpPr txBox="1"/>
            <p:nvPr/>
          </p:nvSpPr>
          <p:spPr>
            <a:xfrm>
              <a:off x="604266" y="6554152"/>
              <a:ext cx="6386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来源：.trae/documents/FAIL.md · NOTES.md · EXPERIMENT.md · TODO D11 / D14 / D19 / N7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4593" y="6554152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P10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482918"/>
            <a:ext cx="3424428" cy="898017"/>
            <a:chOff x="593598" y="482918"/>
            <a:chExt cx="3424428" cy="8980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829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收束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64858"/>
              <a:ext cx="34244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小结与下一步判断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8170" y="1676400"/>
            <a:ext cx="10984230" cy="842201"/>
            <a:chOff x="598170" y="1676400"/>
            <a:chExt cx="10984230" cy="842201"/>
          </a:xfrm>
        </p:grpSpPr>
        <p:sp>
          <p:nvSpPr>
            <p:cNvPr id="5" name="Line 5"/>
            <p:cNvSpPr/>
            <p:nvPr/>
          </p:nvSpPr>
          <p:spPr>
            <a:xfrm>
              <a:off x="609600" y="1676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8170" y="1814512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36370" y="179546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当前结论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40942" y="2254568"/>
              <a:ext cx="7483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三段式架构与四条硬约束成立；prefix_120k 是当前最好，配方不变、只加训练预算即可提升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8170" y="2705100"/>
            <a:ext cx="10984230" cy="842201"/>
            <a:chOff x="598170" y="2705100"/>
            <a:chExt cx="10984230" cy="842201"/>
          </a:xfrm>
        </p:grpSpPr>
        <p:sp>
          <p:nvSpPr>
            <p:cNvPr id="10" name="Line 10"/>
            <p:cNvSpPr/>
            <p:nvPr/>
          </p:nvSpPr>
          <p:spPr>
            <a:xfrm>
              <a:off x="609600" y="270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8170" y="2843212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36370" y="282416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关键数字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40942" y="3283268"/>
              <a:ext cx="9679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BLEU-1 12.55 / BLEU-4 3.18 / ROUGE-L 12.60 / MRR 0.0336（3.06× 地板）；上限锚点 BLEU-4 14.93 与 29.51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98170" y="3733800"/>
            <a:ext cx="10984230" cy="842201"/>
            <a:chOff x="598170" y="3733800"/>
            <a:chExt cx="10984230" cy="842201"/>
          </a:xfrm>
        </p:grpSpPr>
        <p:sp>
          <p:nvSpPr>
            <p:cNvPr id="15" name="Line 15"/>
            <p:cNvSpPr/>
            <p:nvPr/>
          </p:nvSpPr>
          <p:spPr>
            <a:xfrm>
              <a:off x="609600" y="3733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8170" y="3871912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36370" y="3852862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下一步判据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0942" y="4311968"/>
              <a:ext cx="78465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仍落在“改条件使用方式”这条轴上的提案先假定大概率无效；优先补预算与数据，并收口评测口径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4914900"/>
            <a:ext cx="10972800" cy="1104900"/>
            <a:chOff x="609600" y="4914900"/>
            <a:chExt cx="10972800" cy="1104900"/>
          </a:xfrm>
        </p:grpSpPr>
        <p:sp>
          <p:nvSpPr>
            <p:cNvPr id="20" name="Rectangle 20"/>
            <p:cNvSpPr/>
            <p:nvPr/>
          </p:nvSpPr>
          <p:spPr>
            <a:xfrm>
              <a:off x="609600" y="4914900"/>
              <a:ext cx="10972800" cy="1104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2208" y="517017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先补预算与数据，再攻动作语义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5256" y="56159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条件使用方式这条轴已饱和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266" y="6134100"/>
            <a:ext cx="10983468" cy="625411"/>
            <a:chOff x="604266" y="6134100"/>
            <a:chExt cx="10983468" cy="625411"/>
          </a:xfrm>
        </p:grpSpPr>
        <p:sp>
          <p:nvSpPr>
            <p:cNvPr id="24" name="Line 24"/>
            <p:cNvSpPr/>
            <p:nvPr/>
          </p:nvSpPr>
          <p:spPr>
            <a:xfrm>
              <a:off x="609600" y="6134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4266" y="6554152"/>
              <a:ext cx="60638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口径：test 642 单侧评测（回译 / FVD / 检索）；上限锚点为 test 32 条口径，两者不可比大小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94593" y="6554152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P11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t2v_architecture_brief">
  <a:themeElements>
    <a:clrScheme name="t2v_architecture_brief">
      <a:dk1>
        <a:srgbClr val="23282F"/>
      </a:dk1>
      <a:lt1>
        <a:srgbClr val="FFFFFF"/>
      </a:lt1>
      <a:dk2>
        <a:srgbClr val="23282F"/>
      </a:dk2>
      <a:lt2>
        <a:srgbClr val="F4F5F7"/>
      </a:lt2>
      <a:accent1>
        <a:srgbClr val="14181D"/>
      </a:accent1>
      <a:accent2>
        <a:srgbClr val="2F6FEB"/>
      </a:accent2>
      <a:accent3>
        <a:srgbClr val="98A2B3"/>
      </a:accent3>
      <a:accent4>
        <a:srgbClr val="14181D"/>
      </a:accent4>
      <a:accent5>
        <a:srgbClr val="6B7280"/>
      </a:accent5>
      <a:accent6>
        <a:srgbClr val="E3E6EA"/>
      </a:accent6>
      <a:hlink>
        <a:srgbClr val="2F6FEB"/>
      </a:hlink>
      <a:folHlink>
        <a:srgbClr val="98A2B3"/>
      </a:folHlink>
    </a:clrScheme>
    <a:fontScheme name="t2v_architecture_brief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2v_architecture_brief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2v_architecture_brief">
  <a:themeElements>
    <a:clrScheme name="t2v_architecture_brief">
      <a:dk1>
        <a:srgbClr val="23282F"/>
      </a:dk1>
      <a:lt1>
        <a:srgbClr val="FFFFFF"/>
      </a:lt1>
      <a:dk2>
        <a:srgbClr val="23282F"/>
      </a:dk2>
      <a:lt2>
        <a:srgbClr val="F4F5F7"/>
      </a:lt2>
      <a:accent1>
        <a:srgbClr val="14181D"/>
      </a:accent1>
      <a:accent2>
        <a:srgbClr val="2F6FEB"/>
      </a:accent2>
      <a:accent3>
        <a:srgbClr val="98A2B3"/>
      </a:accent3>
      <a:accent4>
        <a:srgbClr val="14181D"/>
      </a:accent4>
      <a:accent5>
        <a:srgbClr val="6B7280"/>
      </a:accent5>
      <a:accent6>
        <a:srgbClr val="E3E6EA"/>
      </a:accent6>
      <a:hlink>
        <a:srgbClr val="2F6FEB"/>
      </a:hlink>
      <a:folHlink>
        <a:srgbClr val="98A2B3"/>
      </a:folHlink>
    </a:clrScheme>
    <a:fontScheme name="t2v_architecture_brief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2v_architecture_brief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2026-10-16T16:03:22Z</dcterms:created>
  <dcterms:modified xsi:type="dcterms:W3CDTF">2026-10-16T16:03:22Z</dcterms:modified>
  <cp:category/>
  <cp:contentStatus/>
</cp:coreProperties>
</file>